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68" r:id="rId2"/>
    <p:sldId id="257" r:id="rId3"/>
    <p:sldId id="258" r:id="rId4"/>
    <p:sldId id="259" r:id="rId5"/>
    <p:sldId id="260" r:id="rId6"/>
    <p:sldId id="261" r:id="rId7"/>
    <p:sldId id="275" r:id="rId8"/>
    <p:sldId id="263" r:id="rId9"/>
    <p:sldId id="270" r:id="rId10"/>
    <p:sldId id="271" r:id="rId11"/>
    <p:sldId id="274" r:id="rId12"/>
    <p:sldId id="272" r:id="rId13"/>
    <p:sldId id="273" r:id="rId14"/>
    <p:sldId id="264" r:id="rId15"/>
    <p:sldId id="265"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BDC501-6CB5-4FA1-97F5-24AE2D642FC6}"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BS"/>
        </a:p>
      </dgm:t>
    </dgm:pt>
    <dgm:pt modelId="{57A4CA5F-2EA4-48B8-9E7D-3E64FFA026BD}">
      <dgm:prSet phldrT="[Text]" phldr="0"/>
      <dgm:spPr/>
      <dgm:t>
        <a:bodyPr/>
        <a:lstStyle/>
        <a:p>
          <a:r>
            <a:rPr lang="en-US" dirty="0"/>
            <a:t>ULTRASONIC SENSORS</a:t>
          </a:r>
          <a:endParaRPr lang="en-BS" dirty="0"/>
        </a:p>
      </dgm:t>
    </dgm:pt>
    <dgm:pt modelId="{E4B8298B-83A8-4F58-AD42-1FC9389AC7A6}" type="parTrans" cxnId="{35351FFD-9B17-4B48-BBF8-97EB0FD3C1B5}">
      <dgm:prSet/>
      <dgm:spPr/>
      <dgm:t>
        <a:bodyPr/>
        <a:lstStyle/>
        <a:p>
          <a:endParaRPr lang="en-BS"/>
        </a:p>
      </dgm:t>
    </dgm:pt>
    <dgm:pt modelId="{7F059FB7-F7BE-4938-993F-7C7512F8EAC8}" type="sibTrans" cxnId="{35351FFD-9B17-4B48-BBF8-97EB0FD3C1B5}">
      <dgm:prSet/>
      <dgm:spPr/>
      <dgm:t>
        <a:bodyPr/>
        <a:lstStyle/>
        <a:p>
          <a:endParaRPr lang="en-BS"/>
        </a:p>
      </dgm:t>
    </dgm:pt>
    <dgm:pt modelId="{E70A1A1B-0F94-45D8-999F-5AEE68352E79}">
      <dgm:prSet phldrT="[Text]" phldr="0"/>
      <dgm:spPr/>
      <dgm:t>
        <a:bodyPr/>
        <a:lstStyle/>
        <a:p>
          <a:r>
            <a:rPr lang="en-US" dirty="0"/>
            <a:t>SERVO MOTRS</a:t>
          </a:r>
          <a:endParaRPr lang="en-BS" dirty="0"/>
        </a:p>
      </dgm:t>
    </dgm:pt>
    <dgm:pt modelId="{A2C70657-EA37-484B-A2DC-A522377BAA49}" type="parTrans" cxnId="{4AB57EEF-582C-465F-AE68-680F38F099AB}">
      <dgm:prSet/>
      <dgm:spPr/>
      <dgm:t>
        <a:bodyPr/>
        <a:lstStyle/>
        <a:p>
          <a:endParaRPr lang="en-BS"/>
        </a:p>
      </dgm:t>
    </dgm:pt>
    <dgm:pt modelId="{B2266600-B888-4ED3-8182-8CC632DF5936}" type="sibTrans" cxnId="{4AB57EEF-582C-465F-AE68-680F38F099AB}">
      <dgm:prSet/>
      <dgm:spPr/>
      <dgm:t>
        <a:bodyPr/>
        <a:lstStyle/>
        <a:p>
          <a:endParaRPr lang="en-BS"/>
        </a:p>
      </dgm:t>
    </dgm:pt>
    <dgm:pt modelId="{39F36A8C-2EF7-4085-B359-FD9160363FD6}">
      <dgm:prSet phldrT="[Text]" phldr="0"/>
      <dgm:spPr/>
      <dgm:t>
        <a:bodyPr/>
        <a:lstStyle/>
        <a:p>
          <a:r>
            <a:rPr lang="en-US" dirty="0"/>
            <a:t>LASER</a:t>
          </a:r>
          <a:endParaRPr lang="en-BS" dirty="0"/>
        </a:p>
      </dgm:t>
    </dgm:pt>
    <dgm:pt modelId="{05611829-04E6-4462-A758-146EECEA2485}" type="parTrans" cxnId="{E02D4C36-7F39-4F3C-98F0-9DD7DAE650C9}">
      <dgm:prSet/>
      <dgm:spPr/>
      <dgm:t>
        <a:bodyPr/>
        <a:lstStyle/>
        <a:p>
          <a:endParaRPr lang="en-BS"/>
        </a:p>
      </dgm:t>
    </dgm:pt>
    <dgm:pt modelId="{352EE343-8B72-4F8F-B771-374AF61CE3E8}" type="sibTrans" cxnId="{E02D4C36-7F39-4F3C-98F0-9DD7DAE650C9}">
      <dgm:prSet/>
      <dgm:spPr/>
      <dgm:t>
        <a:bodyPr/>
        <a:lstStyle/>
        <a:p>
          <a:endParaRPr lang="en-BS"/>
        </a:p>
      </dgm:t>
    </dgm:pt>
    <dgm:pt modelId="{8AFF9CEE-E34F-49F4-B8CD-32EB14D12D12}">
      <dgm:prSet phldrT="[Text]" phldr="0"/>
      <dgm:spPr/>
      <dgm:t>
        <a:bodyPr/>
        <a:lstStyle/>
        <a:p>
          <a:r>
            <a:rPr lang="en-US"/>
            <a:t>ESP32</a:t>
          </a:r>
          <a:endParaRPr lang="en-BS"/>
        </a:p>
      </dgm:t>
    </dgm:pt>
    <dgm:pt modelId="{56EE57E4-2E40-4CDD-BC93-2A2F248F94C0}" type="parTrans" cxnId="{1695A32F-236C-48EC-933E-01C97BE6967D}">
      <dgm:prSet/>
      <dgm:spPr/>
      <dgm:t>
        <a:bodyPr/>
        <a:lstStyle/>
        <a:p>
          <a:endParaRPr lang="en-BS"/>
        </a:p>
      </dgm:t>
    </dgm:pt>
    <dgm:pt modelId="{F50F607D-45D5-46C9-BBD2-DFFD77030E62}" type="sibTrans" cxnId="{1695A32F-236C-48EC-933E-01C97BE6967D}">
      <dgm:prSet/>
      <dgm:spPr/>
      <dgm:t>
        <a:bodyPr/>
        <a:lstStyle/>
        <a:p>
          <a:endParaRPr lang="en-BS"/>
        </a:p>
      </dgm:t>
    </dgm:pt>
    <dgm:pt modelId="{6A91DBAF-FFE8-44F3-83F3-E9A11815DC62}" type="pres">
      <dgm:prSet presAssocID="{9DBDC501-6CB5-4FA1-97F5-24AE2D642FC6}" presName="Name0" presStyleCnt="0">
        <dgm:presLayoutVars>
          <dgm:dir/>
          <dgm:resizeHandles val="exact"/>
        </dgm:presLayoutVars>
      </dgm:prSet>
      <dgm:spPr/>
    </dgm:pt>
    <dgm:pt modelId="{995A2AA1-32E1-464F-AF32-6F1502BCA702}" type="pres">
      <dgm:prSet presAssocID="{57A4CA5F-2EA4-48B8-9E7D-3E64FFA026BD}" presName="node" presStyleLbl="node1" presStyleIdx="0" presStyleCnt="4" custLinFactNeighborX="-806" custLinFactNeighborY="0">
        <dgm:presLayoutVars>
          <dgm:bulletEnabled val="1"/>
        </dgm:presLayoutVars>
      </dgm:prSet>
      <dgm:spPr/>
    </dgm:pt>
    <dgm:pt modelId="{2B351894-D12D-4910-A9B9-28CD64B0DC83}" type="pres">
      <dgm:prSet presAssocID="{7F059FB7-F7BE-4938-993F-7C7512F8EAC8}" presName="sibTrans" presStyleLbl="sibTrans2D1" presStyleIdx="0" presStyleCnt="3"/>
      <dgm:spPr/>
    </dgm:pt>
    <dgm:pt modelId="{3BADAD5D-FCFC-4CED-A482-D35E9D48FB1F}" type="pres">
      <dgm:prSet presAssocID="{7F059FB7-F7BE-4938-993F-7C7512F8EAC8}" presName="connectorText" presStyleLbl="sibTrans2D1" presStyleIdx="0" presStyleCnt="3"/>
      <dgm:spPr/>
    </dgm:pt>
    <dgm:pt modelId="{CB57583F-B617-4012-824C-336EEE6ABF40}" type="pres">
      <dgm:prSet presAssocID="{8AFF9CEE-E34F-49F4-B8CD-32EB14D12D12}" presName="node" presStyleLbl="node1" presStyleIdx="1" presStyleCnt="4">
        <dgm:presLayoutVars>
          <dgm:bulletEnabled val="1"/>
        </dgm:presLayoutVars>
      </dgm:prSet>
      <dgm:spPr/>
    </dgm:pt>
    <dgm:pt modelId="{44455E12-572A-45B0-ABCE-03D6DDA1AFCF}" type="pres">
      <dgm:prSet presAssocID="{F50F607D-45D5-46C9-BBD2-DFFD77030E62}" presName="sibTrans" presStyleLbl="sibTrans2D1" presStyleIdx="1" presStyleCnt="3"/>
      <dgm:spPr/>
    </dgm:pt>
    <dgm:pt modelId="{5B3E1EA0-3C0F-4266-AD8C-D0F100BD0D6B}" type="pres">
      <dgm:prSet presAssocID="{F50F607D-45D5-46C9-BBD2-DFFD77030E62}" presName="connectorText" presStyleLbl="sibTrans2D1" presStyleIdx="1" presStyleCnt="3"/>
      <dgm:spPr/>
    </dgm:pt>
    <dgm:pt modelId="{8E5B82A0-41BC-48BA-878F-A29AAE6AC957}" type="pres">
      <dgm:prSet presAssocID="{E70A1A1B-0F94-45D8-999F-5AEE68352E79}" presName="node" presStyleLbl="node1" presStyleIdx="2" presStyleCnt="4">
        <dgm:presLayoutVars>
          <dgm:bulletEnabled val="1"/>
        </dgm:presLayoutVars>
      </dgm:prSet>
      <dgm:spPr/>
    </dgm:pt>
    <dgm:pt modelId="{960B350B-C9B3-43D4-B36B-DA55FD402648}" type="pres">
      <dgm:prSet presAssocID="{B2266600-B888-4ED3-8182-8CC632DF5936}" presName="sibTrans" presStyleLbl="sibTrans2D1" presStyleIdx="2" presStyleCnt="3"/>
      <dgm:spPr/>
    </dgm:pt>
    <dgm:pt modelId="{311BEA93-7E59-4651-9628-29F9F7534824}" type="pres">
      <dgm:prSet presAssocID="{B2266600-B888-4ED3-8182-8CC632DF5936}" presName="connectorText" presStyleLbl="sibTrans2D1" presStyleIdx="2" presStyleCnt="3"/>
      <dgm:spPr/>
    </dgm:pt>
    <dgm:pt modelId="{53BFDA76-8B69-4D05-83C7-EF32B9F73C66}" type="pres">
      <dgm:prSet presAssocID="{39F36A8C-2EF7-4085-B359-FD9160363FD6}" presName="node" presStyleLbl="node1" presStyleIdx="3" presStyleCnt="4">
        <dgm:presLayoutVars>
          <dgm:bulletEnabled val="1"/>
        </dgm:presLayoutVars>
      </dgm:prSet>
      <dgm:spPr/>
    </dgm:pt>
  </dgm:ptLst>
  <dgm:cxnLst>
    <dgm:cxn modelId="{2BB23F2C-2174-4D6C-958D-C0E19D0280EA}" type="presOf" srcId="{E70A1A1B-0F94-45D8-999F-5AEE68352E79}" destId="{8E5B82A0-41BC-48BA-878F-A29AAE6AC957}" srcOrd="0" destOrd="0" presId="urn:microsoft.com/office/officeart/2005/8/layout/process1"/>
    <dgm:cxn modelId="{1695A32F-236C-48EC-933E-01C97BE6967D}" srcId="{9DBDC501-6CB5-4FA1-97F5-24AE2D642FC6}" destId="{8AFF9CEE-E34F-49F4-B8CD-32EB14D12D12}" srcOrd="1" destOrd="0" parTransId="{56EE57E4-2E40-4CDD-BC93-2A2F248F94C0}" sibTransId="{F50F607D-45D5-46C9-BBD2-DFFD77030E62}"/>
    <dgm:cxn modelId="{E02D4C36-7F39-4F3C-98F0-9DD7DAE650C9}" srcId="{9DBDC501-6CB5-4FA1-97F5-24AE2D642FC6}" destId="{39F36A8C-2EF7-4085-B359-FD9160363FD6}" srcOrd="3" destOrd="0" parTransId="{05611829-04E6-4462-A758-146EECEA2485}" sibTransId="{352EE343-8B72-4F8F-B771-374AF61CE3E8}"/>
    <dgm:cxn modelId="{1A03735E-9582-4D4C-AA10-4AF0448C14E6}" type="presOf" srcId="{F50F607D-45D5-46C9-BBD2-DFFD77030E62}" destId="{44455E12-572A-45B0-ABCE-03D6DDA1AFCF}" srcOrd="0" destOrd="0" presId="urn:microsoft.com/office/officeart/2005/8/layout/process1"/>
    <dgm:cxn modelId="{CDCCEB43-2574-47F4-A1FA-17C93CCE0CDD}" type="presOf" srcId="{9DBDC501-6CB5-4FA1-97F5-24AE2D642FC6}" destId="{6A91DBAF-FFE8-44F3-83F3-E9A11815DC62}" srcOrd="0" destOrd="0" presId="urn:microsoft.com/office/officeart/2005/8/layout/process1"/>
    <dgm:cxn modelId="{2029864A-A361-4B27-B1AA-E435B594490E}" type="presOf" srcId="{7F059FB7-F7BE-4938-993F-7C7512F8EAC8}" destId="{2B351894-D12D-4910-A9B9-28CD64B0DC83}" srcOrd="0" destOrd="0" presId="urn:microsoft.com/office/officeart/2005/8/layout/process1"/>
    <dgm:cxn modelId="{69619272-B81F-446F-8FC6-E89F8560AFE7}" type="presOf" srcId="{7F059FB7-F7BE-4938-993F-7C7512F8EAC8}" destId="{3BADAD5D-FCFC-4CED-A482-D35E9D48FB1F}" srcOrd="1" destOrd="0" presId="urn:microsoft.com/office/officeart/2005/8/layout/process1"/>
    <dgm:cxn modelId="{5AEFBA96-FEA3-4399-8D81-2B5AB6A118DD}" type="presOf" srcId="{39F36A8C-2EF7-4085-B359-FD9160363FD6}" destId="{53BFDA76-8B69-4D05-83C7-EF32B9F73C66}" srcOrd="0" destOrd="0" presId="urn:microsoft.com/office/officeart/2005/8/layout/process1"/>
    <dgm:cxn modelId="{7CE8DCB6-4670-4C7E-9567-4E30B920CF86}" type="presOf" srcId="{B2266600-B888-4ED3-8182-8CC632DF5936}" destId="{311BEA93-7E59-4651-9628-29F9F7534824}" srcOrd="1" destOrd="0" presId="urn:microsoft.com/office/officeart/2005/8/layout/process1"/>
    <dgm:cxn modelId="{9160C8B9-F709-4F1A-BE90-315FFF1BB1A0}" type="presOf" srcId="{57A4CA5F-2EA4-48B8-9E7D-3E64FFA026BD}" destId="{995A2AA1-32E1-464F-AF32-6F1502BCA702}" srcOrd="0" destOrd="0" presId="urn:microsoft.com/office/officeart/2005/8/layout/process1"/>
    <dgm:cxn modelId="{D9DA3EBD-9A54-460C-B3BD-0CBD7F63156C}" type="presOf" srcId="{F50F607D-45D5-46C9-BBD2-DFFD77030E62}" destId="{5B3E1EA0-3C0F-4266-AD8C-D0F100BD0D6B}" srcOrd="1" destOrd="0" presId="urn:microsoft.com/office/officeart/2005/8/layout/process1"/>
    <dgm:cxn modelId="{7AE338C9-5A9F-4F79-9E6D-E0F5FB9CE6D1}" type="presOf" srcId="{8AFF9CEE-E34F-49F4-B8CD-32EB14D12D12}" destId="{CB57583F-B617-4012-824C-336EEE6ABF40}" srcOrd="0" destOrd="0" presId="urn:microsoft.com/office/officeart/2005/8/layout/process1"/>
    <dgm:cxn modelId="{4AB57EEF-582C-465F-AE68-680F38F099AB}" srcId="{9DBDC501-6CB5-4FA1-97F5-24AE2D642FC6}" destId="{E70A1A1B-0F94-45D8-999F-5AEE68352E79}" srcOrd="2" destOrd="0" parTransId="{A2C70657-EA37-484B-A2DC-A522377BAA49}" sibTransId="{B2266600-B888-4ED3-8182-8CC632DF5936}"/>
    <dgm:cxn modelId="{E9ADD3FA-3D69-4E29-8EE7-8C2E0A2623DC}" type="presOf" srcId="{B2266600-B888-4ED3-8182-8CC632DF5936}" destId="{960B350B-C9B3-43D4-B36B-DA55FD402648}" srcOrd="0" destOrd="0" presId="urn:microsoft.com/office/officeart/2005/8/layout/process1"/>
    <dgm:cxn modelId="{35351FFD-9B17-4B48-BBF8-97EB0FD3C1B5}" srcId="{9DBDC501-6CB5-4FA1-97F5-24AE2D642FC6}" destId="{57A4CA5F-2EA4-48B8-9E7D-3E64FFA026BD}" srcOrd="0" destOrd="0" parTransId="{E4B8298B-83A8-4F58-AD42-1FC9389AC7A6}" sibTransId="{7F059FB7-F7BE-4938-993F-7C7512F8EAC8}"/>
    <dgm:cxn modelId="{076EE795-FD3F-4AF7-8D05-022C6D58E76D}" type="presParOf" srcId="{6A91DBAF-FFE8-44F3-83F3-E9A11815DC62}" destId="{995A2AA1-32E1-464F-AF32-6F1502BCA702}" srcOrd="0" destOrd="0" presId="urn:microsoft.com/office/officeart/2005/8/layout/process1"/>
    <dgm:cxn modelId="{6151FD12-44C2-48B9-98ED-890B6BFEF5B6}" type="presParOf" srcId="{6A91DBAF-FFE8-44F3-83F3-E9A11815DC62}" destId="{2B351894-D12D-4910-A9B9-28CD64B0DC83}" srcOrd="1" destOrd="0" presId="urn:microsoft.com/office/officeart/2005/8/layout/process1"/>
    <dgm:cxn modelId="{640F7180-B36A-4BAC-B8EE-D99449B7C07C}" type="presParOf" srcId="{2B351894-D12D-4910-A9B9-28CD64B0DC83}" destId="{3BADAD5D-FCFC-4CED-A482-D35E9D48FB1F}" srcOrd="0" destOrd="0" presId="urn:microsoft.com/office/officeart/2005/8/layout/process1"/>
    <dgm:cxn modelId="{1A2016AC-9E01-49CC-94A2-981005597D19}" type="presParOf" srcId="{6A91DBAF-FFE8-44F3-83F3-E9A11815DC62}" destId="{CB57583F-B617-4012-824C-336EEE6ABF40}" srcOrd="2" destOrd="0" presId="urn:microsoft.com/office/officeart/2005/8/layout/process1"/>
    <dgm:cxn modelId="{B6690759-D30B-4BA9-BC8D-D8AC48A239C3}" type="presParOf" srcId="{6A91DBAF-FFE8-44F3-83F3-E9A11815DC62}" destId="{44455E12-572A-45B0-ABCE-03D6DDA1AFCF}" srcOrd="3" destOrd="0" presId="urn:microsoft.com/office/officeart/2005/8/layout/process1"/>
    <dgm:cxn modelId="{48451553-EBC2-4AE9-A751-307E362E3DE5}" type="presParOf" srcId="{44455E12-572A-45B0-ABCE-03D6DDA1AFCF}" destId="{5B3E1EA0-3C0F-4266-AD8C-D0F100BD0D6B}" srcOrd="0" destOrd="0" presId="urn:microsoft.com/office/officeart/2005/8/layout/process1"/>
    <dgm:cxn modelId="{61BD6D6C-A9AC-4089-97B4-F60F2E4E7581}" type="presParOf" srcId="{6A91DBAF-FFE8-44F3-83F3-E9A11815DC62}" destId="{8E5B82A0-41BC-48BA-878F-A29AAE6AC957}" srcOrd="4" destOrd="0" presId="urn:microsoft.com/office/officeart/2005/8/layout/process1"/>
    <dgm:cxn modelId="{A8F7B7B5-3352-4E15-9C40-10EA30A94B54}" type="presParOf" srcId="{6A91DBAF-FFE8-44F3-83F3-E9A11815DC62}" destId="{960B350B-C9B3-43D4-B36B-DA55FD402648}" srcOrd="5" destOrd="0" presId="urn:microsoft.com/office/officeart/2005/8/layout/process1"/>
    <dgm:cxn modelId="{6D78E4B1-EDF4-4F97-9FFA-386D26FA50E1}" type="presParOf" srcId="{960B350B-C9B3-43D4-B36B-DA55FD402648}" destId="{311BEA93-7E59-4651-9628-29F9F7534824}" srcOrd="0" destOrd="0" presId="urn:microsoft.com/office/officeart/2005/8/layout/process1"/>
    <dgm:cxn modelId="{67A7092C-3361-4F0A-B39B-39DFEE41F080}" type="presParOf" srcId="{6A91DBAF-FFE8-44F3-83F3-E9A11815DC62}" destId="{53BFDA76-8B69-4D05-83C7-EF32B9F73C66}"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5A2AA1-32E1-464F-AF32-6F1502BCA702}">
      <dsp:nvSpPr>
        <dsp:cNvPr id="0" name=""/>
        <dsp:cNvSpPr/>
      </dsp:nvSpPr>
      <dsp:spPr>
        <a:xfrm>
          <a:off x="0" y="1950420"/>
          <a:ext cx="1062153" cy="63729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ULTRASONIC SENSORS</a:t>
          </a:r>
          <a:endParaRPr lang="en-BS" sz="1300" kern="1200" dirty="0"/>
        </a:p>
      </dsp:txBody>
      <dsp:txXfrm>
        <a:off x="18666" y="1969086"/>
        <a:ext cx="1024821" cy="599960"/>
      </dsp:txXfrm>
    </dsp:sp>
    <dsp:sp modelId="{2B351894-D12D-4910-A9B9-28CD64B0DC83}">
      <dsp:nvSpPr>
        <dsp:cNvPr id="0" name=""/>
        <dsp:cNvSpPr/>
      </dsp:nvSpPr>
      <dsp:spPr>
        <a:xfrm>
          <a:off x="1168976" y="2137359"/>
          <a:ext cx="226464" cy="2634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BS" sz="1100" kern="1200"/>
        </a:p>
      </dsp:txBody>
      <dsp:txXfrm>
        <a:off x="1168976" y="2190042"/>
        <a:ext cx="158525" cy="158048"/>
      </dsp:txXfrm>
    </dsp:sp>
    <dsp:sp modelId="{CB57583F-B617-4012-824C-336EEE6ABF40}">
      <dsp:nvSpPr>
        <dsp:cNvPr id="0" name=""/>
        <dsp:cNvSpPr/>
      </dsp:nvSpPr>
      <dsp:spPr>
        <a:xfrm>
          <a:off x="1489443" y="1950420"/>
          <a:ext cx="1062153" cy="63729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ESP32</a:t>
          </a:r>
          <a:endParaRPr lang="en-BS" sz="1300" kern="1200"/>
        </a:p>
      </dsp:txBody>
      <dsp:txXfrm>
        <a:off x="1508109" y="1969086"/>
        <a:ext cx="1024821" cy="599960"/>
      </dsp:txXfrm>
    </dsp:sp>
    <dsp:sp modelId="{44455E12-572A-45B0-ABCE-03D6DDA1AFCF}">
      <dsp:nvSpPr>
        <dsp:cNvPr id="0" name=""/>
        <dsp:cNvSpPr/>
      </dsp:nvSpPr>
      <dsp:spPr>
        <a:xfrm>
          <a:off x="2657812" y="2137359"/>
          <a:ext cx="225176" cy="2634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BS" sz="1100" kern="1200"/>
        </a:p>
      </dsp:txBody>
      <dsp:txXfrm>
        <a:off x="2657812" y="2190042"/>
        <a:ext cx="157623" cy="158048"/>
      </dsp:txXfrm>
    </dsp:sp>
    <dsp:sp modelId="{8E5B82A0-41BC-48BA-878F-A29AAE6AC957}">
      <dsp:nvSpPr>
        <dsp:cNvPr id="0" name=""/>
        <dsp:cNvSpPr/>
      </dsp:nvSpPr>
      <dsp:spPr>
        <a:xfrm>
          <a:off x="2976458" y="1950420"/>
          <a:ext cx="1062153" cy="63729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SERVO MOTRS</a:t>
          </a:r>
          <a:endParaRPr lang="en-BS" sz="1300" kern="1200" dirty="0"/>
        </a:p>
      </dsp:txBody>
      <dsp:txXfrm>
        <a:off x="2995124" y="1969086"/>
        <a:ext cx="1024821" cy="599960"/>
      </dsp:txXfrm>
    </dsp:sp>
    <dsp:sp modelId="{960B350B-C9B3-43D4-B36B-DA55FD402648}">
      <dsp:nvSpPr>
        <dsp:cNvPr id="0" name=""/>
        <dsp:cNvSpPr/>
      </dsp:nvSpPr>
      <dsp:spPr>
        <a:xfrm>
          <a:off x="4144827" y="2137359"/>
          <a:ext cx="225176" cy="2634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BS" sz="1100" kern="1200"/>
        </a:p>
      </dsp:txBody>
      <dsp:txXfrm>
        <a:off x="4144827" y="2190042"/>
        <a:ext cx="157623" cy="158048"/>
      </dsp:txXfrm>
    </dsp:sp>
    <dsp:sp modelId="{53BFDA76-8B69-4D05-83C7-EF32B9F73C66}">
      <dsp:nvSpPr>
        <dsp:cNvPr id="0" name=""/>
        <dsp:cNvSpPr/>
      </dsp:nvSpPr>
      <dsp:spPr>
        <a:xfrm>
          <a:off x="4463473" y="1950420"/>
          <a:ext cx="1062153" cy="63729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LASER</a:t>
          </a:r>
          <a:endParaRPr lang="en-BS" sz="1300" kern="1200" dirty="0"/>
        </a:p>
      </dsp:txBody>
      <dsp:txXfrm>
        <a:off x="4482139" y="1969086"/>
        <a:ext cx="1024821" cy="59996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6A49B-A054-46C9-B41E-83471820C657}" type="datetimeFigureOut">
              <a:rPr lang="en-BS" smtClean="0"/>
              <a:t>03/18/2026</a:t>
            </a:fld>
            <a:endParaRPr lang="en-B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C4A23C-1D11-4376-8CD3-949C7CCF5977}" type="slidenum">
              <a:rPr lang="en-BS" smtClean="0"/>
              <a:t>‹#›</a:t>
            </a:fld>
            <a:endParaRPr lang="en-BS"/>
          </a:p>
        </p:txBody>
      </p:sp>
    </p:spTree>
    <p:extLst>
      <p:ext uri="{BB962C8B-B14F-4D97-AF65-F5344CB8AC3E}">
        <p14:creationId xmlns:p14="http://schemas.microsoft.com/office/powerpoint/2010/main" val="641122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BS"/>
          </a:p>
        </p:txBody>
      </p:sp>
      <p:sp>
        <p:nvSpPr>
          <p:cNvPr id="3" name="Notes Placeholder 2"/>
          <p:cNvSpPr>
            <a:spLocks noGrp="1"/>
          </p:cNvSpPr>
          <p:nvPr>
            <p:ph type="body" idx="1"/>
          </p:nvPr>
        </p:nvSpPr>
        <p:spPr/>
        <p:txBody>
          <a:bodyPr/>
          <a:lstStyle/>
          <a:p>
            <a:endParaRPr lang="en-BS" dirty="0"/>
          </a:p>
        </p:txBody>
      </p:sp>
      <p:sp>
        <p:nvSpPr>
          <p:cNvPr id="4" name="Slide Number Placeholder 3"/>
          <p:cNvSpPr>
            <a:spLocks noGrp="1"/>
          </p:cNvSpPr>
          <p:nvPr>
            <p:ph type="sldNum" sz="quarter" idx="5"/>
          </p:nvPr>
        </p:nvSpPr>
        <p:spPr/>
        <p:txBody>
          <a:bodyPr/>
          <a:lstStyle/>
          <a:p>
            <a:fld id="{3DC4A23C-1D11-4376-8CD3-949C7CCF5977}" type="slidenum">
              <a:rPr lang="en-BS" smtClean="0"/>
              <a:t>14</a:t>
            </a:fld>
            <a:endParaRPr lang="en-BS"/>
          </a:p>
        </p:txBody>
      </p:sp>
    </p:spTree>
    <p:extLst>
      <p:ext uri="{BB962C8B-B14F-4D97-AF65-F5344CB8AC3E}">
        <p14:creationId xmlns:p14="http://schemas.microsoft.com/office/powerpoint/2010/main" val="1734652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524000" y="0"/>
            <a:ext cx="9144000" cy="6771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defTabSz="914400" fontAlgn="base">
              <a:spcBef>
                <a:spcPct val="0"/>
              </a:spcBef>
              <a:spcAft>
                <a:spcPct val="0"/>
              </a:spcAft>
            </a:pPr>
            <a:r>
              <a:rPr lang="en-US" sz="1600" b="1" dirty="0">
                <a:latin typeface="Calibri" pitchFamily="34" charset="0"/>
                <a:ea typeface="Calibri" pitchFamily="34" charset="0"/>
                <a:cs typeface="Times New Roman" pitchFamily="18" charset="0"/>
              </a:rPr>
              <a:t>           </a:t>
            </a:r>
            <a:r>
              <a:rPr lang="en-US" sz="2000" b="1" dirty="0">
                <a:latin typeface="Calibri" pitchFamily="34" charset="0"/>
                <a:ea typeface="Calibri" pitchFamily="34" charset="0"/>
                <a:cs typeface="Times New Roman" pitchFamily="18" charset="0"/>
              </a:rPr>
              <a:t>SREENIVASA INSTITUTE OF TECHNOLOGY AND  MANAGEMENT STUDIES </a:t>
            </a:r>
            <a:endParaRPr lang="en-US" sz="1050" dirty="0">
              <a:latin typeface="Arial" pitchFamily="34" charset="0"/>
              <a:cs typeface="Arial" pitchFamily="34" charset="0"/>
            </a:endParaRPr>
          </a:p>
          <a:p>
            <a:pPr algn="ctr" defTabSz="914400" eaLnBrk="0" fontAlgn="base" hangingPunct="0">
              <a:spcBef>
                <a:spcPct val="0"/>
              </a:spcBef>
              <a:spcAft>
                <a:spcPct val="0"/>
              </a:spcAft>
            </a:pPr>
            <a:r>
              <a:rPr lang="en-US" b="1" dirty="0">
                <a:latin typeface="Times New Roman" pitchFamily="18" charset="0"/>
                <a:ea typeface="Calibri" pitchFamily="34" charset="0"/>
                <a:cs typeface="Times New Roman" pitchFamily="18" charset="0"/>
              </a:rPr>
              <a:t>(Autonomous)</a:t>
            </a:r>
            <a:endParaRPr lang="en-US" sz="1050" dirty="0">
              <a:latin typeface="Arial" pitchFamily="34" charset="0"/>
              <a:cs typeface="Arial" pitchFamily="34" charset="0"/>
            </a:endParaRPr>
          </a:p>
        </p:txBody>
      </p:sp>
      <p:sp>
        <p:nvSpPr>
          <p:cNvPr id="1026" name="Rectangle 2"/>
          <p:cNvSpPr>
            <a:spLocks noChangeArrowheads="1"/>
          </p:cNvSpPr>
          <p:nvPr/>
        </p:nvSpPr>
        <p:spPr bwMode="auto">
          <a:xfrm>
            <a:off x="2971800" y="638890"/>
            <a:ext cx="6324600" cy="8002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defTabSz="914400" fontAlgn="base">
              <a:spcBef>
                <a:spcPct val="0"/>
              </a:spcBef>
              <a:spcAft>
                <a:spcPct val="0"/>
              </a:spcAft>
            </a:pPr>
            <a:r>
              <a:rPr lang="en-US" sz="1600" b="1" dirty="0">
                <a:latin typeface="Arial Black" pitchFamily="34" charset="0"/>
                <a:ea typeface="Calibri" pitchFamily="34" charset="0"/>
                <a:cs typeface="Times New Roman" pitchFamily="18" charset="0"/>
              </a:rPr>
              <a:t>DEPARTMENT OF ELECTRONICS AND COMMUNICATION ENGINEERING</a:t>
            </a:r>
            <a:endParaRPr lang="en-US" sz="900" dirty="0">
              <a:latin typeface="Arial Black" pitchFamily="34" charset="0"/>
              <a:cs typeface="Arial" pitchFamily="34" charset="0"/>
            </a:endParaRPr>
          </a:p>
          <a:p>
            <a:pPr algn="ctr" defTabSz="914400" eaLnBrk="0" fontAlgn="base" hangingPunct="0">
              <a:spcBef>
                <a:spcPct val="0"/>
              </a:spcBef>
              <a:spcAft>
                <a:spcPct val="0"/>
              </a:spcAft>
            </a:pPr>
            <a:r>
              <a:rPr lang="en-US" sz="1400" b="1" dirty="0">
                <a:latin typeface="Times New Roman" pitchFamily="18" charset="0"/>
                <a:ea typeface="Calibri" pitchFamily="34" charset="0"/>
                <a:cs typeface="Times New Roman" pitchFamily="18" charset="0"/>
              </a:rPr>
              <a:t>(2025-2026)</a:t>
            </a:r>
            <a:endParaRPr lang="en-US" sz="2000" dirty="0">
              <a:latin typeface="Arial" pitchFamily="34" charset="0"/>
              <a:cs typeface="Arial" pitchFamily="34" charset="0"/>
            </a:endParaRPr>
          </a:p>
        </p:txBody>
      </p:sp>
      <p:pic>
        <p:nvPicPr>
          <p:cNvPr id="6" name="Picture 5"/>
          <p:cNvPicPr/>
          <p:nvPr/>
        </p:nvPicPr>
        <p:blipFill>
          <a:blip r:embed="rId2"/>
          <a:srcRect/>
          <a:stretch>
            <a:fillRect/>
          </a:stretch>
        </p:blipFill>
        <p:spPr bwMode="auto">
          <a:xfrm>
            <a:off x="1866900" y="76201"/>
            <a:ext cx="685800" cy="1043351"/>
          </a:xfrm>
          <a:prstGeom prst="rect">
            <a:avLst/>
          </a:prstGeom>
          <a:noFill/>
          <a:ln w="9525">
            <a:noFill/>
            <a:miter lim="800000"/>
            <a:headEnd/>
            <a:tailEnd/>
          </a:ln>
        </p:spPr>
      </p:pic>
      <p:graphicFrame>
        <p:nvGraphicFramePr>
          <p:cNvPr id="7" name="Table 6"/>
          <p:cNvGraphicFramePr>
            <a:graphicFrameLocks noGrp="1"/>
          </p:cNvGraphicFramePr>
          <p:nvPr>
            <p:extLst>
              <p:ext uri="{D42A27DB-BD31-4B8C-83A1-F6EECF244321}">
                <p14:modId xmlns:p14="http://schemas.microsoft.com/office/powerpoint/2010/main" val="1603374119"/>
              </p:ext>
            </p:extLst>
          </p:nvPr>
        </p:nvGraphicFramePr>
        <p:xfrm>
          <a:off x="3419856" y="3048000"/>
          <a:ext cx="5184648" cy="1182624"/>
        </p:xfrm>
        <a:graphic>
          <a:graphicData uri="http://schemas.openxmlformats.org/drawingml/2006/table">
            <a:tbl>
              <a:tblPr/>
              <a:tblGrid>
                <a:gridCol w="2637802">
                  <a:extLst>
                    <a:ext uri="{9D8B030D-6E8A-4147-A177-3AD203B41FA5}">
                      <a16:colId xmlns:a16="http://schemas.microsoft.com/office/drawing/2014/main" val="20000"/>
                    </a:ext>
                  </a:extLst>
                </a:gridCol>
                <a:gridCol w="2546846">
                  <a:extLst>
                    <a:ext uri="{9D8B030D-6E8A-4147-A177-3AD203B41FA5}">
                      <a16:colId xmlns:a16="http://schemas.microsoft.com/office/drawing/2014/main" val="20001"/>
                    </a:ext>
                  </a:extLst>
                </a:gridCol>
              </a:tblGrid>
              <a:tr h="295656">
                <a:tc>
                  <a:txBody>
                    <a:bodyPr/>
                    <a:lstStyle/>
                    <a:p>
                      <a:pPr marL="0" marR="0">
                        <a:lnSpc>
                          <a:spcPct val="115000"/>
                        </a:lnSpc>
                        <a:spcBef>
                          <a:spcPts val="0"/>
                        </a:spcBef>
                        <a:spcAft>
                          <a:spcPts val="0"/>
                        </a:spcAft>
                      </a:pPr>
                      <a:r>
                        <a:rPr lang="en-US" sz="1800" b="1" dirty="0">
                          <a:latin typeface="Times New Roman"/>
                          <a:ea typeface="Calibri"/>
                          <a:cs typeface="Times New Roman"/>
                        </a:rPr>
                        <a:t>Name : P. Shivaji Rao</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marL="0" marR="0" algn="r">
                        <a:lnSpc>
                          <a:spcPct val="115000"/>
                        </a:lnSpc>
                        <a:spcBef>
                          <a:spcPts val="0"/>
                        </a:spcBef>
                        <a:spcAft>
                          <a:spcPts val="0"/>
                        </a:spcAft>
                      </a:pPr>
                      <a:r>
                        <a:rPr lang="en-US" sz="1800" b="1" dirty="0">
                          <a:latin typeface="Times New Roman"/>
                          <a:ea typeface="Calibri"/>
                          <a:cs typeface="Times New Roman"/>
                        </a:rPr>
                        <a:t>22751A04A4 </a:t>
                      </a:r>
                      <a:endParaRPr lang="en-US" sz="1800" dirty="0">
                        <a:latin typeface="Calibri"/>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r h="295656">
                <a:tc>
                  <a:txBody>
                    <a:bodyPr/>
                    <a:lstStyle/>
                    <a:p>
                      <a:pPr marL="0" marR="0">
                        <a:lnSpc>
                          <a:spcPct val="115000"/>
                        </a:lnSpc>
                        <a:spcBef>
                          <a:spcPts val="0"/>
                        </a:spcBef>
                        <a:spcAft>
                          <a:spcPts val="0"/>
                        </a:spcAft>
                      </a:pPr>
                      <a:r>
                        <a:rPr lang="en-US" sz="1800" b="1" dirty="0">
                          <a:latin typeface="Times New Roman"/>
                          <a:ea typeface="Calibri"/>
                          <a:cs typeface="Times New Roman"/>
                        </a:rPr>
                        <a:t>Name: S. Nandhini</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marL="0" marR="0" indent="0" algn="r" defTabSz="914400" rtl="0" eaLnBrk="1" fontAlgn="auto" latinLnBrk="0" hangingPunct="1">
                        <a:lnSpc>
                          <a:spcPct val="115000"/>
                        </a:lnSpc>
                        <a:spcBef>
                          <a:spcPts val="0"/>
                        </a:spcBef>
                        <a:spcAft>
                          <a:spcPts val="0"/>
                        </a:spcAft>
                        <a:buClrTx/>
                        <a:buSzTx/>
                        <a:buFontTx/>
                        <a:buNone/>
                        <a:tabLst/>
                        <a:defRPr/>
                      </a:pPr>
                      <a:r>
                        <a:rPr lang="en-US" sz="1800" b="1" dirty="0">
                          <a:latin typeface="Times New Roman"/>
                          <a:ea typeface="Calibri"/>
                          <a:cs typeface="Times New Roman"/>
                        </a:rPr>
                        <a:t>22751A04C1 </a:t>
                      </a:r>
                      <a:endParaRPr lang="en-US" sz="1800" dirty="0">
                        <a:latin typeface="+mn-lt"/>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1"/>
                  </a:ext>
                </a:extLst>
              </a:tr>
              <a:tr h="295656">
                <a:tc>
                  <a:txBody>
                    <a:bodyPr/>
                    <a:lstStyle/>
                    <a:p>
                      <a:pPr marL="0" marR="0">
                        <a:lnSpc>
                          <a:spcPct val="115000"/>
                        </a:lnSpc>
                        <a:spcBef>
                          <a:spcPts val="0"/>
                        </a:spcBef>
                        <a:spcAft>
                          <a:spcPts val="0"/>
                        </a:spcAft>
                      </a:pPr>
                      <a:r>
                        <a:rPr lang="en-US" sz="1800" b="1" dirty="0">
                          <a:latin typeface="Times New Roman"/>
                          <a:ea typeface="Calibri"/>
                          <a:cs typeface="Times New Roman"/>
                        </a:rPr>
                        <a:t>Name: S. Karthik</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marL="0" marR="0" indent="0" algn="r" defTabSz="914400" rtl="0" eaLnBrk="1" fontAlgn="auto" latinLnBrk="0" hangingPunct="1">
                        <a:lnSpc>
                          <a:spcPct val="115000"/>
                        </a:lnSpc>
                        <a:spcBef>
                          <a:spcPts val="0"/>
                        </a:spcBef>
                        <a:spcAft>
                          <a:spcPts val="0"/>
                        </a:spcAft>
                        <a:buClrTx/>
                        <a:buSzTx/>
                        <a:buFontTx/>
                        <a:buNone/>
                        <a:tabLst/>
                        <a:defRPr/>
                      </a:pPr>
                      <a:r>
                        <a:rPr lang="en-US" sz="1800" b="1" dirty="0">
                          <a:latin typeface="Times New Roman"/>
                          <a:ea typeface="Calibri"/>
                          <a:cs typeface="Times New Roman"/>
                        </a:rPr>
                        <a:t>22751A04C2 </a:t>
                      </a:r>
                      <a:endParaRPr lang="en-US" sz="1800" dirty="0">
                        <a:latin typeface="+mn-lt"/>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295656">
                <a:tc>
                  <a:txBody>
                    <a:bodyPr/>
                    <a:lstStyle/>
                    <a:p>
                      <a:pPr marL="0" marR="0">
                        <a:lnSpc>
                          <a:spcPct val="115000"/>
                        </a:lnSpc>
                        <a:spcBef>
                          <a:spcPts val="0"/>
                        </a:spcBef>
                        <a:spcAft>
                          <a:spcPts val="0"/>
                        </a:spcAft>
                      </a:pPr>
                      <a:r>
                        <a:rPr lang="en-US" sz="1800" b="1" dirty="0">
                          <a:latin typeface="Times New Roman"/>
                          <a:ea typeface="Calibri"/>
                          <a:cs typeface="Times New Roman"/>
                        </a:rPr>
                        <a:t>Name: S. Nandhini</a:t>
                      </a:r>
                      <a:endParaRPr lang="en-US" sz="1800" dirty="0">
                        <a:latin typeface="Calibri"/>
                        <a:ea typeface="Calibri"/>
                        <a:cs typeface="Times New Roman"/>
                      </a:endParaRPr>
                    </a:p>
                  </a:txBody>
                  <a:tcPr marL="68580" marR="68580" marT="0" marB="0">
                    <a:lnL>
                      <a:noFill/>
                    </a:lnL>
                    <a:lnR>
                      <a:noFill/>
                    </a:lnR>
                    <a:lnT>
                      <a:noFill/>
                    </a:lnT>
                    <a:lnB>
                      <a:noFill/>
                    </a:lnB>
                  </a:tcPr>
                </a:tc>
                <a:tc>
                  <a:txBody>
                    <a:bodyPr/>
                    <a:lstStyle/>
                    <a:p>
                      <a:pPr marL="0" marR="0" indent="0" algn="r" defTabSz="914400" rtl="0" eaLnBrk="1" fontAlgn="auto" latinLnBrk="0" hangingPunct="1">
                        <a:lnSpc>
                          <a:spcPct val="115000"/>
                        </a:lnSpc>
                        <a:spcBef>
                          <a:spcPts val="0"/>
                        </a:spcBef>
                        <a:spcAft>
                          <a:spcPts val="0"/>
                        </a:spcAft>
                        <a:buClrTx/>
                        <a:buSzTx/>
                        <a:buFontTx/>
                        <a:buNone/>
                        <a:tabLst/>
                        <a:defRPr/>
                      </a:pPr>
                      <a:r>
                        <a:rPr lang="en-US" sz="1800" b="1" dirty="0">
                          <a:latin typeface="Times New Roman"/>
                          <a:ea typeface="Calibri"/>
                          <a:cs typeface="Times New Roman"/>
                        </a:rPr>
                        <a:t>23755A0418 </a:t>
                      </a:r>
                      <a:endParaRPr lang="en-US" sz="1800" dirty="0">
                        <a:latin typeface="+mn-lt"/>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3"/>
                  </a:ext>
                </a:extLst>
              </a:tr>
            </a:tbl>
          </a:graphicData>
        </a:graphic>
      </p:graphicFrame>
      <p:sp>
        <p:nvSpPr>
          <p:cNvPr id="1027" name="Rectangle 3"/>
          <p:cNvSpPr>
            <a:spLocks noChangeArrowheads="1"/>
          </p:cNvSpPr>
          <p:nvPr/>
        </p:nvSpPr>
        <p:spPr bwMode="auto">
          <a:xfrm>
            <a:off x="1524000" y="1447800"/>
            <a:ext cx="9144000"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defTabSz="914400" fontAlgn="base">
              <a:spcBef>
                <a:spcPct val="0"/>
              </a:spcBef>
              <a:spcAft>
                <a:spcPct val="0"/>
              </a:spcAft>
            </a:pPr>
            <a:r>
              <a:rPr lang="en-US" sz="1200" b="1" dirty="0">
                <a:latin typeface="Times New Roman" pitchFamily="18" charset="0"/>
                <a:ea typeface="Calibri" pitchFamily="34" charset="0"/>
                <a:cs typeface="Times New Roman" pitchFamily="18" charset="0"/>
              </a:rPr>
              <a:t>A FINAL YEAR PROJECT REPORT PRESENTATION </a:t>
            </a:r>
          </a:p>
          <a:p>
            <a:pPr algn="ctr" defTabSz="914400" fontAlgn="base">
              <a:spcBef>
                <a:spcPct val="0"/>
              </a:spcBef>
              <a:spcAft>
                <a:spcPct val="0"/>
              </a:spcAft>
            </a:pPr>
            <a:endParaRPr lang="en-US" sz="1200" b="1" dirty="0">
              <a:latin typeface="Times New Roman" pitchFamily="18" charset="0"/>
              <a:ea typeface="Calibri" pitchFamily="34" charset="0"/>
              <a:cs typeface="Times New Roman" pitchFamily="18" charset="0"/>
            </a:endParaRPr>
          </a:p>
          <a:p>
            <a:pPr algn="ctr" defTabSz="914400" fontAlgn="base">
              <a:spcBef>
                <a:spcPct val="0"/>
              </a:spcBef>
              <a:spcAft>
                <a:spcPct val="0"/>
              </a:spcAft>
            </a:pPr>
            <a:r>
              <a:rPr lang="en-US" sz="1200" b="1" dirty="0">
                <a:latin typeface="Times New Roman" pitchFamily="18" charset="0"/>
                <a:ea typeface="Calibri" pitchFamily="34" charset="0"/>
                <a:cs typeface="Times New Roman" pitchFamily="18" charset="0"/>
              </a:rPr>
              <a:t>ON</a:t>
            </a:r>
          </a:p>
          <a:p>
            <a:pPr algn="ctr" defTabSz="914400" fontAlgn="base">
              <a:spcBef>
                <a:spcPct val="0"/>
              </a:spcBef>
              <a:spcAft>
                <a:spcPct val="0"/>
              </a:spcAft>
            </a:pPr>
            <a:endParaRPr lang="en-US" sz="800" dirty="0">
              <a:latin typeface="Arial" pitchFamily="34" charset="0"/>
              <a:cs typeface="Arial" pitchFamily="34" charset="0"/>
            </a:endParaRPr>
          </a:p>
          <a:p>
            <a:pPr algn="ctr" defTabSz="914400" eaLnBrk="0" fontAlgn="base" hangingPunct="0">
              <a:spcBef>
                <a:spcPct val="0"/>
              </a:spcBef>
              <a:spcAft>
                <a:spcPct val="0"/>
              </a:spcAft>
            </a:pPr>
            <a:r>
              <a:rPr lang="en-US" sz="2000" b="1" dirty="0">
                <a:solidFill>
                  <a:srgbClr val="FF0000"/>
                </a:solidFill>
                <a:latin typeface="Times New Roman" pitchFamily="18" charset="0"/>
                <a:ea typeface="Calibri" pitchFamily="34" charset="0"/>
                <a:cs typeface="Times New Roman" pitchFamily="18" charset="0"/>
              </a:rPr>
              <a:t>AIR DEFENCE AND TARGETING SYSTEM  </a:t>
            </a:r>
            <a:endParaRPr lang="en-US" sz="2800" dirty="0">
              <a:solidFill>
                <a:srgbClr val="FF0000"/>
              </a:solidFill>
              <a:latin typeface="Arial" pitchFamily="34" charset="0"/>
              <a:cs typeface="Arial" pitchFamily="34" charset="0"/>
            </a:endParaRPr>
          </a:p>
        </p:txBody>
      </p:sp>
      <p:sp>
        <p:nvSpPr>
          <p:cNvPr id="1028" name="Rectangle 4"/>
          <p:cNvSpPr>
            <a:spLocks noChangeArrowheads="1"/>
          </p:cNvSpPr>
          <p:nvPr/>
        </p:nvSpPr>
        <p:spPr bwMode="auto">
          <a:xfrm>
            <a:off x="5897068" y="2604701"/>
            <a:ext cx="397865"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gn="ctr" defTabSz="914400" fontAlgn="base">
              <a:spcBef>
                <a:spcPct val="0"/>
              </a:spcBef>
              <a:spcAft>
                <a:spcPct val="0"/>
              </a:spcAft>
            </a:pPr>
            <a:r>
              <a:rPr lang="en-US" sz="1200" dirty="0">
                <a:latin typeface="Times New Roman" pitchFamily="18" charset="0"/>
                <a:ea typeface="Calibri" pitchFamily="34" charset="0"/>
                <a:cs typeface="Times New Roman" pitchFamily="18" charset="0"/>
              </a:rPr>
              <a:t>BY</a:t>
            </a:r>
            <a:endParaRPr lang="en-US" dirty="0">
              <a:latin typeface="Arial" pitchFamily="34" charset="0"/>
              <a:cs typeface="Arial" pitchFamily="34" charset="0"/>
            </a:endParaRPr>
          </a:p>
        </p:txBody>
      </p:sp>
      <p:sp>
        <p:nvSpPr>
          <p:cNvPr id="17" name="Text Placeholder 16"/>
          <p:cNvSpPr>
            <a:spLocks noGrp="1"/>
          </p:cNvSpPr>
          <p:nvPr>
            <p:ph type="body" idx="1"/>
          </p:nvPr>
        </p:nvSpPr>
        <p:spPr>
          <a:xfrm>
            <a:off x="2438400" y="4431506"/>
            <a:ext cx="7772400" cy="1957387"/>
          </a:xfrm>
        </p:spPr>
        <p:txBody>
          <a:bodyPr>
            <a:noAutofit/>
          </a:bodyPr>
          <a:lstStyle/>
          <a:p>
            <a:pPr algn="ctr"/>
            <a:r>
              <a:rPr lang="en-US" sz="1600" b="1" dirty="0">
                <a:solidFill>
                  <a:schemeClr val="tx1"/>
                </a:solidFill>
                <a:latin typeface="Times New Roman" pitchFamily="18" charset="0"/>
                <a:ea typeface="Calibri" pitchFamily="34" charset="0"/>
                <a:cs typeface="Times New Roman" pitchFamily="18" charset="0"/>
              </a:rPr>
              <a:t>Under the Guidance of</a:t>
            </a:r>
          </a:p>
          <a:p>
            <a:pPr algn="ctr"/>
            <a:endParaRPr lang="en-US" sz="1600" b="1" dirty="0">
              <a:solidFill>
                <a:schemeClr val="tx1"/>
              </a:solidFill>
              <a:latin typeface="Times New Roman" pitchFamily="18" charset="0"/>
              <a:ea typeface="Calibri" pitchFamily="34" charset="0"/>
              <a:cs typeface="Times New Roman" pitchFamily="18" charset="0"/>
            </a:endParaRPr>
          </a:p>
          <a:p>
            <a:pPr algn="ctr"/>
            <a:r>
              <a:rPr lang="en-US" sz="1600" b="1" dirty="0" err="1">
                <a:solidFill>
                  <a:schemeClr val="tx1"/>
                </a:solidFill>
                <a:latin typeface="Times New Roman" pitchFamily="18" charset="0"/>
                <a:ea typeface="Calibri" pitchFamily="34" charset="0"/>
                <a:cs typeface="Times New Roman" pitchFamily="18" charset="0"/>
              </a:rPr>
              <a:t>Mr</a:t>
            </a:r>
            <a:r>
              <a:rPr lang="en-US" sz="1600" b="1" dirty="0">
                <a:solidFill>
                  <a:schemeClr val="tx1"/>
                </a:solidFill>
                <a:latin typeface="Times New Roman" pitchFamily="18" charset="0"/>
                <a:ea typeface="Calibri" pitchFamily="34" charset="0"/>
                <a:cs typeface="Times New Roman" pitchFamily="18" charset="0"/>
              </a:rPr>
              <a:t>, S. Ashmad., </a:t>
            </a:r>
            <a:r>
              <a:rPr lang="en-US" sz="1600" b="1" dirty="0" err="1">
                <a:solidFill>
                  <a:schemeClr val="tx1"/>
                </a:solidFill>
                <a:latin typeface="Times New Roman" pitchFamily="18" charset="0"/>
                <a:ea typeface="Calibri" pitchFamily="34" charset="0"/>
                <a:cs typeface="Times New Roman" pitchFamily="18" charset="0"/>
              </a:rPr>
              <a:t>M.Tech</a:t>
            </a:r>
            <a:r>
              <a:rPr lang="en-US" sz="1600" b="1" dirty="0">
                <a:solidFill>
                  <a:schemeClr val="tx1"/>
                </a:solidFill>
                <a:latin typeface="Times New Roman" pitchFamily="18" charset="0"/>
                <a:ea typeface="Calibri" pitchFamily="34" charset="0"/>
                <a:cs typeface="Times New Roman" pitchFamily="18" charset="0"/>
              </a:rPr>
              <a:t>., </a:t>
            </a:r>
          </a:p>
          <a:p>
            <a:pPr algn="ctr"/>
            <a:r>
              <a:rPr lang="en-US" sz="1600" b="1" dirty="0">
                <a:solidFill>
                  <a:schemeClr val="tx1"/>
                </a:solidFill>
                <a:latin typeface="Times New Roman" pitchFamily="18" charset="0"/>
                <a:ea typeface="Calibri" pitchFamily="34" charset="0"/>
                <a:cs typeface="Times New Roman" pitchFamily="18" charset="0"/>
              </a:rPr>
              <a:t>Assistant Professor </a:t>
            </a:r>
          </a:p>
          <a:p>
            <a:pPr algn="ctr"/>
            <a:r>
              <a:rPr lang="en-US" sz="1600" b="1" dirty="0">
                <a:solidFill>
                  <a:schemeClr val="tx1"/>
                </a:solidFill>
                <a:latin typeface="Times New Roman" pitchFamily="18" charset="0"/>
                <a:ea typeface="Calibri" pitchFamily="34" charset="0"/>
                <a:cs typeface="Times New Roman" pitchFamily="18" charset="0"/>
              </a:rPr>
              <a:t>Department of Electronics and Communication Engineering,</a:t>
            </a:r>
          </a:p>
          <a:p>
            <a:pPr algn="ctr"/>
            <a:r>
              <a:rPr lang="en-US" sz="1600" b="1" dirty="0">
                <a:solidFill>
                  <a:schemeClr val="tx1"/>
                </a:solidFill>
                <a:latin typeface="Times New Roman" pitchFamily="18" charset="0"/>
                <a:ea typeface="Calibri" pitchFamily="34" charset="0"/>
                <a:cs typeface="Times New Roman" pitchFamily="18" charset="0"/>
              </a:rPr>
              <a:t>Sreenivasa Institute of Technology and </a:t>
            </a:r>
          </a:p>
          <a:p>
            <a:pPr algn="ctr"/>
            <a:r>
              <a:rPr lang="en-US" sz="1600" b="1" dirty="0">
                <a:solidFill>
                  <a:schemeClr val="tx1"/>
                </a:solidFill>
                <a:latin typeface="Times New Roman" pitchFamily="18" charset="0"/>
                <a:ea typeface="Calibri" pitchFamily="34" charset="0"/>
                <a:cs typeface="Times New Roman" pitchFamily="18" charset="0"/>
              </a:rPr>
              <a:t>Management Studies, Chittoor, A.P.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Abstract</a:t>
            </a:r>
          </a:p>
        </p:txBody>
      </p:sp>
      <p:sp>
        <p:nvSpPr>
          <p:cNvPr id="3" name="Content Placeholder 2"/>
          <p:cNvSpPr>
            <a:spLocks noGrp="1"/>
          </p:cNvSpPr>
          <p:nvPr>
            <p:ph idx="1"/>
          </p:nvPr>
        </p:nvSpPr>
        <p:spPr>
          <a:xfrm>
            <a:off x="457200" y="1600200"/>
            <a:ext cx="11329416" cy="4525963"/>
          </a:xfrm>
        </p:spPr>
        <p:txBody>
          <a:bodyPr>
            <a:normAutofit fontScale="92500" lnSpcReduction="20000"/>
          </a:bodyPr>
          <a:lstStyle/>
          <a:p>
            <a:pPr marL="0" indent="0" algn="just">
              <a:lnSpc>
                <a:spcPct val="150000"/>
              </a:lnSpc>
              <a:buNone/>
              <a:defRPr sz="1800"/>
            </a:pPr>
            <a:r>
              <a:rPr sz="2400" dirty="0">
                <a:latin typeface="+mj-lt"/>
              </a:rPr>
              <a:t>This project presents an Air Defense and Targeting System designed to detect and respond to nearby aerial objects using a low-cost embedded setup. The system uses 3 ultrasonic sensors as short-range radar units to measure the distance of objects in real time. A 4-servo motor mechanism is used to scan a wider area and to provide smooth directional movement for tracking. When an object enters the predefined danger zone, the ESP32 controller processes the sensor readings and identifies the target direction. Based on the detected position, the servo motors align a laser module toward the target, simulating an automatic aiming process. The proposed system demonstrates how sensing, scanning, and automated targeting can replicate the basic working principle of an air defense surveillance model. This prototype is compact, low cost, and can be extended further by adding wireless monitoring and improved tracking algorithms.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Problem Identification</a:t>
            </a:r>
          </a:p>
        </p:txBody>
      </p:sp>
      <p:sp>
        <p:nvSpPr>
          <p:cNvPr id="4" name="TextBox 3"/>
          <p:cNvSpPr txBox="1"/>
          <p:nvPr/>
        </p:nvSpPr>
        <p:spPr>
          <a:xfrm>
            <a:off x="527916" y="1636776"/>
            <a:ext cx="10413043" cy="2251065"/>
          </a:xfrm>
          <a:prstGeom prst="rect">
            <a:avLst/>
          </a:prstGeom>
          <a:noFill/>
        </p:spPr>
        <p:txBody>
          <a:bodyPr wrap="none">
            <a:spAutoFit/>
          </a:bodyPr>
          <a:lstStyle/>
          <a:p>
            <a:pPr marL="342900" indent="-342900" algn="just">
              <a:lnSpc>
                <a:spcPct val="150000"/>
              </a:lnSpc>
              <a:buFont typeface="Arial" panose="020B0604020202020204" pitchFamily="34" charset="0"/>
              <a:buChar char="•"/>
              <a:defRPr sz="2200"/>
            </a:pPr>
            <a:r>
              <a:rPr sz="2400" dirty="0"/>
              <a:t>Manual tracking of moving objects is slow and inaccurate.</a:t>
            </a:r>
          </a:p>
          <a:p>
            <a:pPr marL="342900" indent="-342900" algn="just">
              <a:lnSpc>
                <a:spcPct val="150000"/>
              </a:lnSpc>
              <a:buFont typeface="Arial" panose="020B0604020202020204" pitchFamily="34" charset="0"/>
              <a:buChar char="•"/>
              <a:defRPr sz="2200"/>
            </a:pPr>
            <a:r>
              <a:rPr sz="2400" dirty="0"/>
              <a:t>High-end radar-based defense systems are costly and complex.</a:t>
            </a:r>
          </a:p>
          <a:p>
            <a:pPr marL="342900" indent="-342900" algn="just">
              <a:lnSpc>
                <a:spcPct val="150000"/>
              </a:lnSpc>
              <a:buFont typeface="Arial" panose="020B0604020202020204" pitchFamily="34" charset="0"/>
              <a:buChar char="•"/>
              <a:defRPr sz="2200"/>
            </a:pPr>
            <a:r>
              <a:rPr sz="2400" dirty="0"/>
              <a:t>Single-sensor setups provide limited coverage and poor direction detection.</a:t>
            </a:r>
          </a:p>
          <a:p>
            <a:pPr marL="342900" indent="-342900" algn="just">
              <a:lnSpc>
                <a:spcPct val="150000"/>
              </a:lnSpc>
              <a:buFont typeface="Arial" panose="020B0604020202020204" pitchFamily="34" charset="0"/>
              <a:buChar char="•"/>
              <a:defRPr sz="2200"/>
            </a:pPr>
            <a:r>
              <a:rPr sz="2400" dirty="0"/>
              <a:t>Need a compact, low-cost system that can detect, track, and target in real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Objectives</a:t>
            </a:r>
          </a:p>
        </p:txBody>
      </p:sp>
      <p:sp>
        <p:nvSpPr>
          <p:cNvPr id="4" name="TextBox 3"/>
          <p:cNvSpPr txBox="1"/>
          <p:nvPr/>
        </p:nvSpPr>
        <p:spPr>
          <a:xfrm>
            <a:off x="558396" y="1463040"/>
            <a:ext cx="10119437" cy="2805063"/>
          </a:xfrm>
          <a:prstGeom prst="rect">
            <a:avLst/>
          </a:prstGeom>
          <a:noFill/>
        </p:spPr>
        <p:txBody>
          <a:bodyPr wrap="none">
            <a:spAutoFit/>
          </a:bodyPr>
          <a:lstStyle/>
          <a:p>
            <a:pPr marL="342900" indent="-342900" algn="just">
              <a:lnSpc>
                <a:spcPct val="150000"/>
              </a:lnSpc>
              <a:buFont typeface="Arial" panose="020B0604020202020204" pitchFamily="34" charset="0"/>
              <a:buChar char="•"/>
              <a:defRPr sz="2200"/>
            </a:pPr>
            <a:r>
              <a:rPr sz="2400" dirty="0"/>
              <a:t>Detect objects using 3 ultrasonic sensors and measure distance continuously.</a:t>
            </a:r>
          </a:p>
          <a:p>
            <a:pPr marL="342900" indent="-342900" algn="just">
              <a:lnSpc>
                <a:spcPct val="150000"/>
              </a:lnSpc>
              <a:buFont typeface="Arial" panose="020B0604020202020204" pitchFamily="34" charset="0"/>
              <a:buChar char="•"/>
              <a:defRPr sz="2200"/>
            </a:pPr>
            <a:r>
              <a:rPr sz="2400" dirty="0"/>
              <a:t>Scan and track target direction using 4 servo motors.</a:t>
            </a:r>
          </a:p>
          <a:p>
            <a:pPr marL="342900" indent="-342900" algn="just">
              <a:lnSpc>
                <a:spcPct val="150000"/>
              </a:lnSpc>
              <a:buFont typeface="Arial" panose="020B0604020202020204" pitchFamily="34" charset="0"/>
              <a:buChar char="•"/>
              <a:defRPr sz="2200"/>
            </a:pPr>
            <a:r>
              <a:rPr sz="2400" dirty="0"/>
              <a:t>Aim a laser module automatically towards detected target.</a:t>
            </a:r>
          </a:p>
          <a:p>
            <a:pPr marL="342900" indent="-342900" algn="just">
              <a:lnSpc>
                <a:spcPct val="150000"/>
              </a:lnSpc>
              <a:buFont typeface="Arial" panose="020B0604020202020204" pitchFamily="34" charset="0"/>
              <a:buChar char="•"/>
              <a:defRPr sz="2200"/>
            </a:pPr>
            <a:r>
              <a:rPr sz="2400" dirty="0"/>
              <a:t>Provide fast, stable control using ESP32.</a:t>
            </a:r>
          </a:p>
          <a:p>
            <a:pPr marL="342900" indent="-342900" algn="just">
              <a:lnSpc>
                <a:spcPct val="150000"/>
              </a:lnSpc>
              <a:buFont typeface="Arial" panose="020B0604020202020204" pitchFamily="34" charset="0"/>
              <a:buChar char="•"/>
              <a:defRPr sz="2200"/>
            </a:pPr>
            <a:r>
              <a:rPr sz="2400" dirty="0"/>
              <a:t>Build a low-cost, scalable prototype for educational demonstration.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Methodology</a:t>
            </a:r>
          </a:p>
        </p:txBody>
      </p:sp>
      <p:sp>
        <p:nvSpPr>
          <p:cNvPr id="4" name="TextBox 3"/>
          <p:cNvSpPr txBox="1"/>
          <p:nvPr/>
        </p:nvSpPr>
        <p:spPr>
          <a:xfrm>
            <a:off x="558396" y="1463040"/>
            <a:ext cx="11775724" cy="3359061"/>
          </a:xfrm>
          <a:prstGeom prst="rect">
            <a:avLst/>
          </a:prstGeom>
          <a:noFill/>
        </p:spPr>
        <p:txBody>
          <a:bodyPr wrap="none">
            <a:spAutoFit/>
          </a:bodyPr>
          <a:lstStyle/>
          <a:p>
            <a:pPr marL="342900" indent="-342900" algn="just">
              <a:lnSpc>
                <a:spcPct val="150000"/>
              </a:lnSpc>
              <a:buFont typeface="Arial" panose="020B0604020202020204" pitchFamily="34" charset="0"/>
              <a:buChar char="•"/>
              <a:defRPr sz="2000"/>
            </a:pPr>
            <a:r>
              <a:rPr sz="2400" dirty="0"/>
              <a:t>Ultrasonic sensors continuously measure target distance in Left / Center / Right directions.</a:t>
            </a:r>
          </a:p>
          <a:p>
            <a:pPr marL="342900" indent="-342900" algn="just">
              <a:lnSpc>
                <a:spcPct val="150000"/>
              </a:lnSpc>
              <a:buFont typeface="Arial" panose="020B0604020202020204" pitchFamily="34" charset="0"/>
              <a:buChar char="•"/>
              <a:defRPr sz="2000"/>
            </a:pPr>
            <a:r>
              <a:rPr sz="2400" dirty="0"/>
              <a:t>ESP32 reads sensor data and checks predefined danger zone threshold.</a:t>
            </a:r>
          </a:p>
          <a:p>
            <a:pPr marL="342900" indent="-342900" algn="just">
              <a:lnSpc>
                <a:spcPct val="150000"/>
              </a:lnSpc>
              <a:buFont typeface="Arial" panose="020B0604020202020204" pitchFamily="34" charset="0"/>
              <a:buChar char="•"/>
              <a:defRPr sz="2000"/>
            </a:pPr>
            <a:r>
              <a:rPr sz="2400" dirty="0"/>
              <a:t>Nearest object and direction are selected based on minimum distance.</a:t>
            </a:r>
          </a:p>
          <a:p>
            <a:pPr marL="342900" indent="-342900" algn="just">
              <a:lnSpc>
                <a:spcPct val="150000"/>
              </a:lnSpc>
              <a:buFont typeface="Arial" panose="020B0604020202020204" pitchFamily="34" charset="0"/>
              <a:buChar char="•"/>
              <a:defRPr sz="2000"/>
            </a:pPr>
            <a:r>
              <a:rPr sz="2400" dirty="0"/>
              <a:t>Servo motors rotate and tilt the mechanism to align with target direction.</a:t>
            </a:r>
          </a:p>
          <a:p>
            <a:pPr marL="342900" indent="-342900" algn="just">
              <a:lnSpc>
                <a:spcPct val="150000"/>
              </a:lnSpc>
              <a:buFont typeface="Arial" panose="020B0604020202020204" pitchFamily="34" charset="0"/>
              <a:buChar char="•"/>
              <a:defRPr sz="2000"/>
            </a:pPr>
            <a:r>
              <a:rPr sz="2400" dirty="0"/>
              <a:t>Laser module is activated to indicate targeting; optional alarm can be triggered.</a:t>
            </a:r>
          </a:p>
          <a:p>
            <a:pPr marL="342900" indent="-342900" algn="just">
              <a:lnSpc>
                <a:spcPct val="150000"/>
              </a:lnSpc>
              <a:buFont typeface="Arial" panose="020B0604020202020204" pitchFamily="34" charset="0"/>
              <a:buChar char="•"/>
              <a:defRPr sz="2000"/>
            </a:pPr>
            <a:r>
              <a:rPr sz="2400" dirty="0"/>
              <a:t>System keeps tracking until the target exits the range.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Introduction</a:t>
            </a:r>
          </a:p>
        </p:txBody>
      </p:sp>
      <p:sp>
        <p:nvSpPr>
          <p:cNvPr id="4" name="TextBox 3"/>
          <p:cNvSpPr txBox="1"/>
          <p:nvPr/>
        </p:nvSpPr>
        <p:spPr>
          <a:xfrm>
            <a:off x="669377" y="1463040"/>
            <a:ext cx="10914206" cy="2251065"/>
          </a:xfrm>
          <a:prstGeom prst="rect">
            <a:avLst/>
          </a:prstGeom>
          <a:noFill/>
        </p:spPr>
        <p:txBody>
          <a:bodyPr wrap="none">
            <a:spAutoFit/>
          </a:bodyPr>
          <a:lstStyle/>
          <a:p>
            <a:pPr marL="342900" indent="-342900" algn="just">
              <a:lnSpc>
                <a:spcPct val="150000"/>
              </a:lnSpc>
              <a:buFont typeface="Arial" panose="020B0604020202020204" pitchFamily="34" charset="0"/>
              <a:buChar char="•"/>
              <a:defRPr sz="2400"/>
            </a:pPr>
            <a:r>
              <a:rPr dirty="0"/>
              <a:t>Air defense systems require fast detection and accurate tracking of targets.</a:t>
            </a:r>
          </a:p>
          <a:p>
            <a:pPr marL="342900" indent="-342900" algn="just">
              <a:lnSpc>
                <a:spcPct val="150000"/>
              </a:lnSpc>
              <a:buFont typeface="Arial" panose="020B0604020202020204" pitchFamily="34" charset="0"/>
              <a:buChar char="•"/>
              <a:defRPr sz="2400"/>
            </a:pPr>
            <a:r>
              <a:rPr dirty="0"/>
              <a:t>This project demonstrates a low-cost prototype using ESP32 and ultrasonic sensors.</a:t>
            </a:r>
          </a:p>
          <a:p>
            <a:pPr marL="342900" indent="-342900" algn="just">
              <a:lnSpc>
                <a:spcPct val="150000"/>
              </a:lnSpc>
              <a:buFont typeface="Arial" panose="020B0604020202020204" pitchFamily="34" charset="0"/>
              <a:buChar char="•"/>
              <a:defRPr sz="2400"/>
            </a:pPr>
            <a:r>
              <a:rPr dirty="0"/>
              <a:t>Servo motors provide controlled scanning and aiming movement.</a:t>
            </a:r>
          </a:p>
          <a:p>
            <a:pPr marL="342900" indent="-342900" algn="just">
              <a:lnSpc>
                <a:spcPct val="150000"/>
              </a:lnSpc>
              <a:buFont typeface="Arial" panose="020B0604020202020204" pitchFamily="34" charset="0"/>
              <a:buChar char="•"/>
              <a:defRPr sz="2400"/>
            </a:pPr>
            <a:r>
              <a:rPr dirty="0"/>
              <a:t>A laser module is used for visual confirmation of targeting.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Literature Survey</a:t>
            </a:r>
          </a:p>
        </p:txBody>
      </p:sp>
      <p:sp>
        <p:nvSpPr>
          <p:cNvPr id="3" name="Rectangle 1">
            <a:extLst>
              <a:ext uri="{FF2B5EF4-FFF2-40B4-BE49-F238E27FC236}">
                <a16:creationId xmlns:a16="http://schemas.microsoft.com/office/drawing/2014/main" id="{CFB1343A-07C3-5A1A-A8FD-3B1ECA2878B9}"/>
              </a:ext>
            </a:extLst>
          </p:cNvPr>
          <p:cNvSpPr>
            <a:spLocks noChangeArrowheads="1"/>
          </p:cNvSpPr>
          <p:nvPr/>
        </p:nvSpPr>
        <p:spPr bwMode="auto">
          <a:xfrm>
            <a:off x="281940" y="1236588"/>
            <a:ext cx="12001500"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Paper Title:</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BS" altLang="en-B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 </a:t>
            </a:r>
            <a:r>
              <a:rPr kumimoji="0" lang="en-BS" altLang="en-BS" sz="24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Defense</a:t>
            </a:r>
            <a:r>
              <a:rPr kumimoji="0" lang="en-BS" altLang="en-B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Mechanism Using Radar System”</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explains a low-cost air defence prototype using radar-like scanning.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Publication Details:</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ISSN </a:t>
            </a: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2347–3657</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Volume 13, Issue 2, 2025</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uses </a:t>
            </a: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UNO</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HC-SR04 ultrasonic sensor</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 </a:t>
            </a: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servo motor</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t>
            </a:r>
            <a:r>
              <a:rPr lang="en-US" altLang="en-BS" sz="2400" dirty="0">
                <a:latin typeface="Times New Roman" panose="02020603050405020304" pitchFamily="18" charset="0"/>
                <a:cs typeface="Times New Roman" panose="02020603050405020304" pitchFamily="18" charset="0"/>
              </a:rPr>
              <a:t>     </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0°–180° scanning like radar.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Distance is detected using echo timing and alerts are given using </a:t>
            </a: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buzzer/LED</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possible </a:t>
            </a: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laptop radar visualization</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paper reports limitations like </a:t>
            </a: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short range</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noise interference</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false detection</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BS" altLang="en-B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delayed response</a:t>
            </a:r>
            <a:r>
              <a:rPr kumimoji="0" lang="en-BS" altLang="en-B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motivating improved proposed systems.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Materials and Methods</a:t>
            </a:r>
          </a:p>
        </p:txBody>
      </p:sp>
      <p:sp>
        <p:nvSpPr>
          <p:cNvPr id="4" name="TextBox 3"/>
          <p:cNvSpPr txBox="1"/>
          <p:nvPr/>
        </p:nvSpPr>
        <p:spPr>
          <a:xfrm>
            <a:off x="1429907" y="1463040"/>
            <a:ext cx="9393149" cy="2805063"/>
          </a:xfrm>
          <a:prstGeom prst="rect">
            <a:avLst/>
          </a:prstGeom>
          <a:noFill/>
        </p:spPr>
        <p:txBody>
          <a:bodyPr wrap="none">
            <a:spAutoFit/>
          </a:bodyPr>
          <a:lstStyle/>
          <a:p>
            <a:pPr marL="342900" indent="-342900" algn="just">
              <a:lnSpc>
                <a:spcPct val="150000"/>
              </a:lnSpc>
              <a:buFont typeface="Arial" panose="020B0604020202020204" pitchFamily="34" charset="0"/>
              <a:buChar char="•"/>
              <a:defRPr sz="2000"/>
            </a:pPr>
            <a:r>
              <a:rPr sz="2400" b="1" dirty="0"/>
              <a:t>Hardware: </a:t>
            </a:r>
            <a:r>
              <a:rPr lang="en-US" sz="2400" dirty="0"/>
              <a:t>	</a:t>
            </a:r>
            <a:r>
              <a:rPr sz="2400" dirty="0"/>
              <a:t>ESP32 development board, 3× HC-SR04 ultrasonic sensors,</a:t>
            </a:r>
            <a:endParaRPr lang="en-US" sz="2400" dirty="0"/>
          </a:p>
          <a:p>
            <a:pPr algn="just">
              <a:lnSpc>
                <a:spcPct val="150000"/>
              </a:lnSpc>
              <a:defRPr sz="2000"/>
            </a:pPr>
            <a:r>
              <a:rPr lang="en-US" sz="2400" dirty="0"/>
              <a:t>				</a:t>
            </a:r>
            <a:r>
              <a:rPr sz="2400" dirty="0"/>
              <a:t>4× servo motors, laser module, buzzer (optional).</a:t>
            </a:r>
          </a:p>
          <a:p>
            <a:pPr marL="342900" indent="-342900" algn="just">
              <a:lnSpc>
                <a:spcPct val="150000"/>
              </a:lnSpc>
              <a:buFont typeface="Arial" panose="020B0604020202020204" pitchFamily="34" charset="0"/>
              <a:buChar char="•"/>
              <a:defRPr sz="2000"/>
            </a:pPr>
            <a:r>
              <a:rPr sz="2400" b="1" dirty="0"/>
              <a:t>Power: </a:t>
            </a:r>
            <a:r>
              <a:rPr lang="en-US" sz="2400" dirty="0"/>
              <a:t>		</a:t>
            </a:r>
            <a:r>
              <a:rPr sz="2400" dirty="0"/>
              <a:t>5V regulated supply for servos; ESP32 powered via USB/5V.</a:t>
            </a:r>
          </a:p>
          <a:p>
            <a:pPr marL="342900" indent="-342900" algn="just">
              <a:lnSpc>
                <a:spcPct val="150000"/>
              </a:lnSpc>
              <a:buFont typeface="Arial" panose="020B0604020202020204" pitchFamily="34" charset="0"/>
              <a:buChar char="•"/>
              <a:defRPr sz="2000"/>
            </a:pPr>
            <a:r>
              <a:rPr sz="2400" b="1" dirty="0"/>
              <a:t>Software: </a:t>
            </a:r>
            <a:r>
              <a:rPr lang="en-US" sz="2400" dirty="0"/>
              <a:t>	</a:t>
            </a:r>
            <a:r>
              <a:rPr sz="2400" dirty="0"/>
              <a:t>Arduino IDE / ESP-IDF, Embedded C, Servo control library,</a:t>
            </a:r>
            <a:endParaRPr lang="en-US" sz="2400" dirty="0"/>
          </a:p>
          <a:p>
            <a:pPr algn="just">
              <a:lnSpc>
                <a:spcPct val="150000"/>
              </a:lnSpc>
              <a:defRPr sz="2000"/>
            </a:pPr>
            <a:r>
              <a:rPr lang="en-US" sz="2400" dirty="0"/>
              <a:t>				</a:t>
            </a:r>
            <a:r>
              <a:rPr sz="2400" dirty="0"/>
              <a:t>distance calculation logic.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b="1" dirty="0"/>
              <a:t>Existing Method – Arduino Radar System</a:t>
            </a:r>
          </a:p>
        </p:txBody>
      </p:sp>
      <p:sp>
        <p:nvSpPr>
          <p:cNvPr id="3" name="Content Placeholder 2"/>
          <p:cNvSpPr>
            <a:spLocks noGrp="1"/>
          </p:cNvSpPr>
          <p:nvPr>
            <p:ph idx="1"/>
          </p:nvPr>
        </p:nvSpPr>
        <p:spPr>
          <a:xfrm>
            <a:off x="457200" y="1600200"/>
            <a:ext cx="6784848" cy="4525963"/>
          </a:xfrm>
        </p:spPr>
        <p:txBody>
          <a:bodyPr>
            <a:normAutofit fontScale="92500"/>
          </a:bodyPr>
          <a:lstStyle/>
          <a:p>
            <a:r>
              <a:rPr dirty="0"/>
              <a:t>Arduino UNO with single ultrasonic sensor and servo motor.</a:t>
            </a:r>
          </a:p>
          <a:p>
            <a:r>
              <a:rPr dirty="0"/>
              <a:t>Ultrasonic sensor scans 0°–180° like radar.</a:t>
            </a:r>
          </a:p>
          <a:p>
            <a:r>
              <a:rPr dirty="0"/>
              <a:t>Distance calculated using echo timing.</a:t>
            </a:r>
          </a:p>
          <a:p>
            <a:r>
              <a:rPr dirty="0"/>
              <a:t>Alerts generated using buzzer and LED.</a:t>
            </a:r>
          </a:p>
          <a:p>
            <a:r>
              <a:rPr dirty="0"/>
              <a:t>Laptop-based radar visualization possible.</a:t>
            </a:r>
          </a:p>
        </p:txBody>
      </p:sp>
      <p:pic>
        <p:nvPicPr>
          <p:cNvPr id="5" name="Picture 4">
            <a:extLst>
              <a:ext uri="{FF2B5EF4-FFF2-40B4-BE49-F238E27FC236}">
                <a16:creationId xmlns:a16="http://schemas.microsoft.com/office/drawing/2014/main" id="{2DF12D7D-A82E-78B6-456C-5272850B268A}"/>
              </a:ext>
            </a:extLst>
          </p:cNvPr>
          <p:cNvPicPr>
            <a:picLocks noChangeAspect="1"/>
          </p:cNvPicPr>
          <p:nvPr/>
        </p:nvPicPr>
        <p:blipFill>
          <a:blip r:embed="rId2"/>
          <a:stretch>
            <a:fillRect/>
          </a:stretch>
        </p:blipFill>
        <p:spPr>
          <a:xfrm>
            <a:off x="6976872" y="846138"/>
            <a:ext cx="5215128" cy="55180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Disadvantages of Existing Method</a:t>
            </a:r>
          </a:p>
        </p:txBody>
      </p:sp>
      <p:sp>
        <p:nvSpPr>
          <p:cNvPr id="3" name="Content Placeholder 2"/>
          <p:cNvSpPr>
            <a:spLocks noGrp="1"/>
          </p:cNvSpPr>
          <p:nvPr>
            <p:ph idx="1"/>
          </p:nvPr>
        </p:nvSpPr>
        <p:spPr/>
        <p:txBody>
          <a:bodyPr/>
          <a:lstStyle/>
          <a:p>
            <a:r>
              <a:t>Limited detection range.</a:t>
            </a:r>
          </a:p>
          <a:p>
            <a:r>
              <a:t>Single sensor causes blind spots.</a:t>
            </a:r>
          </a:p>
          <a:p>
            <a:r>
              <a:t>Slow scanning for fast-moving targets.</a:t>
            </a:r>
          </a:p>
          <a:p>
            <a:r>
              <a:t>High false detection rate.</a:t>
            </a:r>
          </a:p>
          <a:p>
            <a:r>
              <a:t>No automatic targeting mechanism.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System Block Diagram</a:t>
            </a:r>
          </a:p>
        </p:txBody>
      </p:sp>
      <p:graphicFrame>
        <p:nvGraphicFramePr>
          <p:cNvPr id="4" name="Diagram 3">
            <a:extLst>
              <a:ext uri="{FF2B5EF4-FFF2-40B4-BE49-F238E27FC236}">
                <a16:creationId xmlns:a16="http://schemas.microsoft.com/office/drawing/2014/main" id="{29D9E58F-102B-00A6-CA07-3A93B099930E}"/>
              </a:ext>
            </a:extLst>
          </p:cNvPr>
          <p:cNvGraphicFramePr/>
          <p:nvPr>
            <p:extLst>
              <p:ext uri="{D42A27DB-BD31-4B8C-83A1-F6EECF244321}">
                <p14:modId xmlns:p14="http://schemas.microsoft.com/office/powerpoint/2010/main" val="813469392"/>
              </p:ext>
            </p:extLst>
          </p:nvPr>
        </p:nvGraphicFramePr>
        <p:xfrm>
          <a:off x="1126744" y="1600200"/>
          <a:ext cx="5528056" cy="4538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A5360A8C-C27D-2C45-0D2C-D1107E302CCC}"/>
              </a:ext>
            </a:extLst>
          </p:cNvPr>
          <p:cNvPicPr>
            <a:picLocks noChangeAspect="1"/>
          </p:cNvPicPr>
          <p:nvPr/>
        </p:nvPicPr>
        <p:blipFill>
          <a:blip r:embed="rId7"/>
          <a:stretch>
            <a:fillRect/>
          </a:stretch>
        </p:blipFill>
        <p:spPr>
          <a:xfrm>
            <a:off x="6915376" y="1773222"/>
            <a:ext cx="5019238" cy="3759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anchor="b">
            <a:normAutofit/>
          </a:bodyPr>
          <a:lstStyle/>
          <a:p>
            <a:pPr>
              <a:lnSpc>
                <a:spcPct val="90000"/>
              </a:lnSpc>
            </a:pPr>
            <a:r>
              <a:rPr lang="en-US" sz="4200" b="1"/>
              <a:t>Proposed Method – ESP32 Targeting System</a:t>
            </a:r>
          </a:p>
        </p:txBody>
      </p:sp>
      <p:sp>
        <p:nvSpPr>
          <p:cNvPr id="1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872899"/>
            <a:ext cx="4243589" cy="3320668"/>
          </a:xfrm>
        </p:spPr>
        <p:txBody>
          <a:bodyPr>
            <a:normAutofit/>
          </a:bodyPr>
          <a:lstStyle/>
          <a:p>
            <a:r>
              <a:rPr lang="en-IN" sz="2000"/>
              <a:t>ESP32 controller for faster processing.</a:t>
            </a:r>
          </a:p>
          <a:p>
            <a:r>
              <a:rPr lang="en-IN" sz="2000"/>
              <a:t>Three ultrasonic sensors for multi-direction coverage.</a:t>
            </a:r>
          </a:p>
          <a:p>
            <a:r>
              <a:rPr lang="en-IN" sz="2000"/>
              <a:t>Four servo motors for smooth tracking.</a:t>
            </a:r>
          </a:p>
          <a:p>
            <a:r>
              <a:rPr lang="en-IN" sz="2000"/>
              <a:t>Laser module for target simulation.</a:t>
            </a:r>
          </a:p>
          <a:p>
            <a:r>
              <a:rPr lang="en-IN" sz="2000"/>
              <a:t>Automatic alignment towards detected object.</a:t>
            </a:r>
          </a:p>
        </p:txBody>
      </p:sp>
      <p:pic>
        <p:nvPicPr>
          <p:cNvPr id="6" name="Picture 5">
            <a:extLst>
              <a:ext uri="{FF2B5EF4-FFF2-40B4-BE49-F238E27FC236}">
                <a16:creationId xmlns:a16="http://schemas.microsoft.com/office/drawing/2014/main" id="{41303A34-E950-F965-66A9-5C4642FF488C}"/>
              </a:ext>
            </a:extLst>
          </p:cNvPr>
          <p:cNvPicPr>
            <a:picLocks noChangeAspect="1"/>
          </p:cNvPicPr>
          <p:nvPr/>
        </p:nvPicPr>
        <p:blipFill>
          <a:blip r:embed="rId2"/>
          <a:srcRect l="19047" r="5726"/>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Advantages of Proposed System</a:t>
            </a:r>
          </a:p>
        </p:txBody>
      </p:sp>
      <p:sp>
        <p:nvSpPr>
          <p:cNvPr id="3" name="Content Placeholder 2"/>
          <p:cNvSpPr>
            <a:spLocks noGrp="1"/>
          </p:cNvSpPr>
          <p:nvPr>
            <p:ph idx="1"/>
          </p:nvPr>
        </p:nvSpPr>
        <p:spPr/>
        <p:txBody>
          <a:bodyPr/>
          <a:lstStyle/>
          <a:p>
            <a:r>
              <a:t>Better coverage and reduced blind spots.</a:t>
            </a:r>
          </a:p>
          <a:p>
            <a:r>
              <a:t>Faster detection and response.</a:t>
            </a:r>
          </a:p>
          <a:p>
            <a:r>
              <a:t>Improved direction accuracy.</a:t>
            </a:r>
          </a:p>
          <a:p>
            <a:r>
              <a:t>Automatic targeting simulation.</a:t>
            </a:r>
          </a:p>
          <a:p>
            <a:r>
              <a:t>Low-cost and scalable design.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36397" y="502020"/>
            <a:ext cx="5323715" cy="1642970"/>
          </a:xfrm>
        </p:spPr>
        <p:txBody>
          <a:bodyPr vert="horz" lIns="91440" tIns="45720" rIns="91440" bIns="45720" rtlCol="0" anchor="b">
            <a:normAutofit/>
          </a:bodyPr>
          <a:lstStyle/>
          <a:p>
            <a:pPr algn="l" defTabSz="914400">
              <a:lnSpc>
                <a:spcPct val="90000"/>
              </a:lnSpc>
            </a:pPr>
            <a:r>
              <a:rPr lang="en-US" sz="4000" b="1" kern="1200">
                <a:solidFill>
                  <a:schemeClr val="tx1"/>
                </a:solidFill>
                <a:latin typeface="+mj-lt"/>
                <a:ea typeface="+mj-ea"/>
                <a:cs typeface="+mj-cs"/>
              </a:rPr>
              <a:t>Results and Discussion</a:t>
            </a:r>
          </a:p>
        </p:txBody>
      </p:sp>
      <p:sp>
        <p:nvSpPr>
          <p:cNvPr id="4" name="TextBox 3"/>
          <p:cNvSpPr txBox="1"/>
          <p:nvPr/>
        </p:nvSpPr>
        <p:spPr>
          <a:xfrm>
            <a:off x="1144923" y="2405894"/>
            <a:ext cx="5315189" cy="3535083"/>
          </a:xfrm>
          <a:prstGeom prst="rect">
            <a:avLst/>
          </a:prstGeom>
        </p:spPr>
        <p:txBody>
          <a:bodyPr vert="horz" lIns="91440" tIns="45720" rIns="91440" bIns="45720" rtlCol="0" anchor="t">
            <a:normAutofit/>
          </a:bodyPr>
          <a:lstStyle/>
          <a:p>
            <a:pPr marL="342900" indent="-228600" defTabSz="914400">
              <a:lnSpc>
                <a:spcPct val="90000"/>
              </a:lnSpc>
              <a:spcAft>
                <a:spcPts val="600"/>
              </a:spcAft>
              <a:buFont typeface="Arial" panose="020B0604020202020204" pitchFamily="34" charset="0"/>
              <a:buChar char="•"/>
              <a:defRPr sz="2000"/>
            </a:pPr>
            <a:r>
              <a:rPr lang="en-US" sz="2000"/>
              <a:t>Objects were detected successfully using ultrasonic sensors in real time.</a:t>
            </a:r>
          </a:p>
          <a:p>
            <a:pPr marL="342900" indent="-228600" defTabSz="914400">
              <a:lnSpc>
                <a:spcPct val="90000"/>
              </a:lnSpc>
              <a:spcAft>
                <a:spcPts val="600"/>
              </a:spcAft>
              <a:buFont typeface="Arial" panose="020B0604020202020204" pitchFamily="34" charset="0"/>
              <a:buChar char="•"/>
              <a:defRPr sz="2000"/>
            </a:pPr>
            <a:r>
              <a:rPr lang="en-US" sz="2000"/>
              <a:t>We working on using Left / Center / Right sensor comparison.</a:t>
            </a:r>
          </a:p>
          <a:p>
            <a:pPr marL="342900" indent="-228600" defTabSz="914400">
              <a:lnSpc>
                <a:spcPct val="90000"/>
              </a:lnSpc>
              <a:spcAft>
                <a:spcPts val="600"/>
              </a:spcAft>
              <a:buFont typeface="Arial" panose="020B0604020202020204" pitchFamily="34" charset="0"/>
              <a:buChar char="•"/>
              <a:defRPr sz="2000"/>
            </a:pPr>
            <a:r>
              <a:rPr lang="en-US" sz="2000"/>
              <a:t>Servo motors tracked and aligned the laser towards the target direction.</a:t>
            </a:r>
          </a:p>
          <a:p>
            <a:pPr marL="342900" indent="-228600" defTabSz="914400">
              <a:lnSpc>
                <a:spcPct val="90000"/>
              </a:lnSpc>
              <a:spcAft>
                <a:spcPts val="600"/>
              </a:spcAft>
              <a:buFont typeface="Arial" panose="020B0604020202020204" pitchFamily="34" charset="0"/>
              <a:buChar char="•"/>
              <a:defRPr sz="2000"/>
            </a:pPr>
            <a:r>
              <a:rPr lang="en-US" sz="2000"/>
              <a:t>3-sensor setup improved coverage and reduced blind spots compared to</a:t>
            </a:r>
          </a:p>
          <a:p>
            <a:pPr indent="-228600" defTabSz="914400">
              <a:lnSpc>
                <a:spcPct val="90000"/>
              </a:lnSpc>
              <a:spcAft>
                <a:spcPts val="600"/>
              </a:spcAft>
              <a:buFont typeface="Arial" panose="020B0604020202020204" pitchFamily="34" charset="0"/>
              <a:buChar char="•"/>
              <a:defRPr sz="2000"/>
            </a:pPr>
            <a:r>
              <a:rPr lang="en-US" sz="2000"/>
              <a:t>	single-sensor scanning.</a:t>
            </a:r>
          </a:p>
          <a:p>
            <a:pPr marL="342900" indent="-228600" defTabSz="914400">
              <a:lnSpc>
                <a:spcPct val="90000"/>
              </a:lnSpc>
              <a:spcAft>
                <a:spcPts val="600"/>
              </a:spcAft>
              <a:buFont typeface="Arial" panose="020B0604020202020204" pitchFamily="34" charset="0"/>
              <a:buChar char="•"/>
              <a:defRPr sz="2000"/>
            </a:pPr>
            <a:r>
              <a:rPr lang="en-US" sz="2000"/>
              <a:t>System response time was stable for short-range detection scenarios.</a:t>
            </a:r>
          </a:p>
        </p:txBody>
      </p:sp>
      <p:sp>
        <p:nvSpPr>
          <p:cNvPr id="22" name="Rectangle 2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WhatsApp Video 2026-03-18 at 11.18.51 AM">
            <a:hlinkClick r:id="" action="ppaction://media"/>
            <a:extLst>
              <a:ext uri="{FF2B5EF4-FFF2-40B4-BE49-F238E27FC236}">
                <a16:creationId xmlns:a16="http://schemas.microsoft.com/office/drawing/2014/main" id="{76A5D574-BAF3-CBB6-26D1-2356215E6F1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827520" y="-31"/>
            <a:ext cx="5364480" cy="68579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9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Conclusion</a:t>
            </a:r>
          </a:p>
        </p:txBody>
      </p:sp>
      <p:sp>
        <p:nvSpPr>
          <p:cNvPr id="4" name="TextBox 3"/>
          <p:cNvSpPr txBox="1"/>
          <p:nvPr/>
        </p:nvSpPr>
        <p:spPr>
          <a:xfrm>
            <a:off x="1158472" y="1417638"/>
            <a:ext cx="10198754" cy="4467057"/>
          </a:xfrm>
          <a:prstGeom prst="rect">
            <a:avLst/>
          </a:prstGeom>
          <a:noFill/>
        </p:spPr>
        <p:txBody>
          <a:bodyPr wrap="none">
            <a:spAutoFit/>
          </a:bodyPr>
          <a:lstStyle/>
          <a:p>
            <a:pPr marL="342900" indent="-342900" algn="just">
              <a:lnSpc>
                <a:spcPct val="150000"/>
              </a:lnSpc>
              <a:buFont typeface="Arial" panose="020B0604020202020204" pitchFamily="34" charset="0"/>
              <a:buChar char="•"/>
              <a:defRPr sz="2000"/>
            </a:pPr>
            <a:r>
              <a:rPr sz="2400" dirty="0"/>
              <a:t>The Air Defense and Targeting System using ESP32 was designed and</a:t>
            </a:r>
            <a:endParaRPr lang="en-US" sz="2400" dirty="0"/>
          </a:p>
          <a:p>
            <a:pPr algn="just">
              <a:lnSpc>
                <a:spcPct val="150000"/>
              </a:lnSpc>
              <a:defRPr sz="2000"/>
            </a:pPr>
            <a:r>
              <a:rPr lang="en-US" sz="2400" dirty="0"/>
              <a:t>	</a:t>
            </a:r>
            <a:r>
              <a:rPr sz="2400" dirty="0"/>
              <a:t>demonstrated successfully.</a:t>
            </a:r>
          </a:p>
          <a:p>
            <a:pPr marL="342900" indent="-342900" algn="just">
              <a:lnSpc>
                <a:spcPct val="150000"/>
              </a:lnSpc>
              <a:buFont typeface="Arial" panose="020B0604020202020204" pitchFamily="34" charset="0"/>
              <a:buChar char="•"/>
              <a:defRPr sz="2000"/>
            </a:pPr>
            <a:r>
              <a:rPr sz="2400" dirty="0"/>
              <a:t>3 ultrasonic sensors provided effective short-range object detection </a:t>
            </a:r>
            <a:endParaRPr lang="en-US" sz="2400" dirty="0"/>
          </a:p>
          <a:p>
            <a:pPr algn="just">
              <a:lnSpc>
                <a:spcPct val="150000"/>
              </a:lnSpc>
              <a:defRPr sz="2000"/>
            </a:pPr>
            <a:r>
              <a:rPr lang="en-US" sz="2400" dirty="0"/>
              <a:t>	</a:t>
            </a:r>
            <a:r>
              <a:rPr sz="2400" dirty="0"/>
              <a:t>and direction identification.</a:t>
            </a:r>
          </a:p>
          <a:p>
            <a:pPr marL="342900" indent="-342900" algn="just">
              <a:lnSpc>
                <a:spcPct val="150000"/>
              </a:lnSpc>
              <a:buFont typeface="Arial" panose="020B0604020202020204" pitchFamily="34" charset="0"/>
              <a:buChar char="•"/>
              <a:defRPr sz="2000"/>
            </a:pPr>
            <a:r>
              <a:rPr sz="2400" dirty="0"/>
              <a:t>4 servo motors enabled smooth scanning and accurate aiming alignment.</a:t>
            </a:r>
            <a:endParaRPr lang="en-US" sz="2400" dirty="0"/>
          </a:p>
          <a:p>
            <a:pPr marL="342900" indent="-342900" algn="just">
              <a:lnSpc>
                <a:spcPct val="150000"/>
              </a:lnSpc>
              <a:buFont typeface="Arial" panose="020B0604020202020204" pitchFamily="34" charset="0"/>
              <a:buChar char="•"/>
              <a:defRPr sz="2000"/>
            </a:pPr>
            <a:r>
              <a:rPr lang="en-US" sz="2400" dirty="0"/>
              <a:t>Laser targeting offered a clear visual indication of tracking and aim direction.</a:t>
            </a:r>
          </a:p>
          <a:p>
            <a:pPr marL="342900" indent="-342900" algn="just">
              <a:lnSpc>
                <a:spcPct val="150000"/>
              </a:lnSpc>
              <a:buFont typeface="Arial" panose="020B0604020202020204" pitchFamily="34" charset="0"/>
              <a:buChar char="•"/>
              <a:defRPr sz="2000"/>
            </a:pPr>
            <a:r>
              <a:rPr sz="2400" dirty="0"/>
              <a:t>The prototype is low cost, compact, and extendable with wireless monitoring </a:t>
            </a:r>
            <a:endParaRPr lang="en-US" sz="2400" dirty="0"/>
          </a:p>
          <a:p>
            <a:pPr algn="just">
              <a:lnSpc>
                <a:spcPct val="150000"/>
              </a:lnSpc>
              <a:defRPr sz="2000"/>
            </a:pPr>
            <a:r>
              <a:rPr lang="en-US" sz="2400" dirty="0"/>
              <a:t>	</a:t>
            </a:r>
            <a:r>
              <a:rPr sz="2400" dirty="0"/>
              <a:t>and advanced tracking.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References</a:t>
            </a:r>
          </a:p>
        </p:txBody>
      </p:sp>
      <p:sp>
        <p:nvSpPr>
          <p:cNvPr id="4" name="TextBox 3"/>
          <p:cNvSpPr txBox="1"/>
          <p:nvPr/>
        </p:nvSpPr>
        <p:spPr>
          <a:xfrm>
            <a:off x="1581912" y="1828800"/>
            <a:ext cx="5231753" cy="2251065"/>
          </a:xfrm>
          <a:prstGeom prst="rect">
            <a:avLst/>
          </a:prstGeom>
          <a:noFill/>
        </p:spPr>
        <p:txBody>
          <a:bodyPr wrap="none">
            <a:spAutoFit/>
          </a:bodyPr>
          <a:lstStyle/>
          <a:p>
            <a:pPr marL="342900" indent="-342900">
              <a:lnSpc>
                <a:spcPct val="150000"/>
              </a:lnSpc>
              <a:buFont typeface="Arial" panose="020B0604020202020204" pitchFamily="34" charset="0"/>
              <a:buChar char="•"/>
              <a:defRPr sz="2400"/>
            </a:pPr>
            <a:r>
              <a:rPr dirty="0"/>
              <a:t>ESP32 Technical Documentation</a:t>
            </a:r>
          </a:p>
          <a:p>
            <a:pPr marL="342900" indent="-342900">
              <a:lnSpc>
                <a:spcPct val="150000"/>
              </a:lnSpc>
              <a:buFont typeface="Arial" panose="020B0604020202020204" pitchFamily="34" charset="0"/>
              <a:buChar char="•"/>
              <a:defRPr sz="2400"/>
            </a:pPr>
            <a:r>
              <a:rPr dirty="0"/>
              <a:t>HC-SR04 Ultrasonic Sensor Datasheet</a:t>
            </a:r>
          </a:p>
          <a:p>
            <a:pPr marL="342900" indent="-342900">
              <a:lnSpc>
                <a:spcPct val="150000"/>
              </a:lnSpc>
              <a:buFont typeface="Arial" panose="020B0604020202020204" pitchFamily="34" charset="0"/>
              <a:buChar char="•"/>
              <a:defRPr sz="2400"/>
            </a:pPr>
            <a:r>
              <a:rPr dirty="0"/>
              <a:t>Servo Motor Control References</a:t>
            </a:r>
          </a:p>
          <a:p>
            <a:pPr marL="342900" indent="-342900">
              <a:lnSpc>
                <a:spcPct val="150000"/>
              </a:lnSpc>
              <a:buFont typeface="Arial" panose="020B0604020202020204" pitchFamily="34" charset="0"/>
              <a:buChar char="•"/>
              <a:defRPr sz="2400"/>
            </a:pPr>
            <a:r>
              <a:rPr dirty="0"/>
              <a:t>Arduino IDE / ESP-IDF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947</Words>
  <Application>Microsoft Office PowerPoint</Application>
  <PresentationFormat>Widescreen</PresentationFormat>
  <Paragraphs>113</Paragraphs>
  <Slides>16</Slides>
  <Notes>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Arial Black</vt:lpstr>
      <vt:lpstr>Calibri</vt:lpstr>
      <vt:lpstr>Times New Roman</vt:lpstr>
      <vt:lpstr>Office Theme</vt:lpstr>
      <vt:lpstr>PowerPoint Presentation</vt:lpstr>
      <vt:lpstr>Abstract</vt:lpstr>
      <vt:lpstr>Problem Identification</vt:lpstr>
      <vt:lpstr>Objectives</vt:lpstr>
      <vt:lpstr>Methodology</vt:lpstr>
      <vt:lpstr>Introduction</vt:lpstr>
      <vt:lpstr>Literature Survey</vt:lpstr>
      <vt:lpstr>Materials and Methods</vt:lpstr>
      <vt:lpstr>Existing Method – Arduino Radar System</vt:lpstr>
      <vt:lpstr>Disadvantages of Existing Method</vt:lpstr>
      <vt:lpstr>Proposed System Block Diagram</vt:lpstr>
      <vt:lpstr>Proposed Method – ESP32 Targeting System</vt:lpstr>
      <vt:lpstr>Advantages of Proposed System</vt:lpstr>
      <vt:lpstr>Results and Discussion</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santhapalli karthik</cp:lastModifiedBy>
  <cp:revision>12</cp:revision>
  <dcterms:created xsi:type="dcterms:W3CDTF">2013-01-27T09:14:16Z</dcterms:created>
  <dcterms:modified xsi:type="dcterms:W3CDTF">2026-03-18T05:54:13Z</dcterms:modified>
  <cp:category/>
</cp:coreProperties>
</file>